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9" r:id="rId5"/>
    <p:sldId id="268" r:id="rId6"/>
    <p:sldId id="258" r:id="rId7"/>
    <p:sldId id="271" r:id="rId8"/>
    <p:sldId id="270" r:id="rId9"/>
    <p:sldId id="272" r:id="rId10"/>
    <p:sldId id="273" r:id="rId11"/>
    <p:sldId id="274" r:id="rId12"/>
    <p:sldId id="275" r:id="rId13"/>
    <p:sldId id="276" r:id="rId14"/>
    <p:sldId id="259" r:id="rId15"/>
    <p:sldId id="277" r:id="rId16"/>
    <p:sldId id="279" r:id="rId17"/>
    <p:sldId id="283" r:id="rId18"/>
    <p:sldId id="284" r:id="rId19"/>
    <p:sldId id="280" r:id="rId20"/>
    <p:sldId id="281" r:id="rId21"/>
    <p:sldId id="282" r:id="rId22"/>
    <p:sldId id="278" r:id="rId23"/>
    <p:sldId id="260" r:id="rId24"/>
    <p:sldId id="285" r:id="rId25"/>
    <p:sldId id="287" r:id="rId26"/>
    <p:sldId id="286" r:id="rId27"/>
    <p:sldId id="288" r:id="rId28"/>
  </p:sldIdLst>
  <p:sldSz cx="12192000" cy="6858000"/>
  <p:notesSz cx="6858000" cy="9144000"/>
  <p:embeddedFontLs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JetBrains Mono"/>
      <p:regular r:id="rId33"/>
    </p:embeddedFont>
    <p:embeddedFont>
      <p:font typeface="Plus Jakarta Sans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40" autoAdjust="0"/>
  </p:normalViewPr>
  <p:slideViewPr>
    <p:cSldViewPr snapToGrid="0" snapToObjects="1">
      <p:cViewPr varScale="1">
        <p:scale>
          <a:sx n="64" d="100"/>
          <a:sy n="64" d="100"/>
        </p:scale>
        <p:origin x="101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8T10:40:59.1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8336 1325,'-1'-9,"1"1,-2-1,1 1,-1 0,0-1,-1 1,0 0,0 0,-1 1,0-1,0 1,-1 0,-8-11,-6-4,-2 0,-37-30,-11-2,-2 2,-3 4,-101-50,-254-88,249 124,-250-52,-201 0,91 40,-33-5,249 26,-715-93,699 122,-414 21,577 15,1 7,1 8,1 8,-192 64,269-61,-179 97,233-112,-37 21,1 4,2 3,3 3,-82 78,113-90,3 1,1 2,2 2,3 1,1 2,3 1,-40 92,38-57,5 1,3 1,5 2,3 0,-7 138,29 465,-6-680,-13 291,2-162,-12 918,24-998,-3 1,-3-1,-2 0,-18 69,7-68,3 0,3 2,-5 73,14 22,3-92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0:41:03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8035 0 24575,'-142'4'0,"-208"32"-1,-125 53-1206,357-65 500,-1638 366-2206,1093-238 2857,-4 9-1512,16 42 1183,389-101 491,-479 263 0,659-314 914,-78 66-1,-64 69 2130,-17 15-2676,-154 74-428,102-76 8,18 21-27,201-151-26,-93 111 0,136-141 0,2 1 0,2 1 0,2 2 0,-39 86 0,37-53 120,3 0 0,4 2 0,3 0 0,3 1 0,4 1 0,1 157 0,8-193-120,0 10 0,2 1 0,3-1 0,2-1 0,12 55 0,19 9 0,52 113 0,-84-217 0,167 375-599,87 225-1159,-227-515-4076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28T10:41:21.4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52,'15'-1,"0"0,30-7,14-2,705-19,-630 28,262-1,69 3,1710 79,-1682-43,-56 12,-61 6,-68-3,-263-44,67 12,-1 4,128 46,-169-40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0:49:22.1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0:49:26.1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2390 58 24575,'0'-1'0,"0"0"0,-1 0 0,1 0 0,0-1 0,-1 1 0,1 0 0,-1 0 0,1 1 0,-1-1 0,0 0 0,1 0 0,-1 0 0,0 0 0,0 0 0,0 1 0,1-1 0,-1 0 0,0 1 0,0-1 0,0 1 0,0-1 0,0 1 0,0-1 0,0 1 0,-2-1 0,-31-8 0,28 8 0,-48-9 0,-1 3 0,-57 0 0,-115 8 0,101 1 0,94 0 0,1 0 0,0 2 0,0 1 0,-46 14 0,-118 54 0,167-60 0,1 1 0,0 1 0,1 1 0,-32 27 0,-85 86 0,62-52 0,12-14 0,-428 363 0,460-398 0,-13 11 0,-65 37 0,103-68 0,0 1 0,1 0 0,-1 0 0,2 1 0,-1 0 0,2 1 0,-1 0 0,1 1 0,-12 21 0,7-7 0,1-1 0,2 2 0,-17 53 0,23-61 0,1 0 0,1 0 0,0 0 0,1 1 0,1-1 0,1 0 0,1 1 0,1-1 0,1 0 0,0 0 0,1 0 0,1 0 0,1 0 0,1-1 0,10 20 0,56 100 0,95 133 0,-158-257 0,-1 0 0,2 0 0,0-1 0,0-1 0,1 0 0,19 15 0,-23-21 0,1-1 0,-1-1 0,1 1 0,0-1 0,0-1 0,0 1 0,0-2 0,1 1 0,-1-1 0,1-1 0,-1 1 0,16-1 0,163-11 0,-24 0 0,-92 6 0,84-16 0,-48 5 0,-9 7 0,105 5 0,21 0 0,-197 1 0,0-2 0,-1-1 0,0-1 0,31-12 0,102-50 0,-83 36 0,-51 23 0,0-2 0,30-18 0,3-6 0,4-2 0,85-67 0,-129 89 0,-1-2 0,0-1 0,-1 0 0,-1-1 0,-1 0 0,0-2 0,-2 0 0,15-28 0,31-99 0,16-30 0,-59 147 0,-2 0 0,-1 0 0,-1-1 0,-2-1 0,-1 0 0,-2 0 0,-1-1 0,-2 0 0,0-64 0,-10-255 0,5 322 0,-1 0 0,-2 0 0,-1 0 0,-1 0 0,-2 1 0,-1 0 0,-1 0 0,-1 1 0,-2 0 0,-1 1 0,-1 1 0,-31-41 0,39 61 7,0-1 0,0 2 0,0-1 0,-1 1 0,-1 0 0,1 1-1,-1-1 1,1 2 0,-1-1 0,-1 2 0,1-1 0,-1 1 0,1 0 0,-16-2-1,-11 1-345,0 1-1,-60 2 0,76 2-109,-36 0-6377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0:50:42.7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0:50:43.3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0:54:49.7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2:07:18.2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680 58 24575,'-44'0'0,"-7"-1"0,-63 8 0,97-4 0,0 0 0,0 1 0,0 1 0,0 1 0,1 0 0,-1 1 0,-21 14 0,11-2 0,0 2 0,2 1 0,0 1 0,1 1 0,2 2 0,0 0 0,2 1 0,0 1 0,2 1 0,1 1 0,-18 44 0,28-56 0,1 0 0,1 1 0,0 0 0,2 0 0,0 0 0,-1 22 0,5 121 0,1-94 0,-1-54 0,0 1 0,0-1 0,2 0 0,0 0 0,0 0 0,1-1 0,1 1 0,0-1 0,0 0 0,2 0 0,-1-1 0,2 0 0,-1 0 0,11 12 0,10 15 0,1 0 0,2-2 0,46 44 0,-62-68 0,0-1 0,0 0 0,2-2 0,-1 1 0,1-2 0,0 0 0,1-1 0,0-1 0,0-1 0,1-1 0,21 4 0,92 10 0,407 80 0,-527-95 0,1-1 0,-1-1 0,0 0 0,23 0 0,-30-3 0,0 1 0,1-1 0,-1 0 0,0-1 0,0 1 0,0-1 0,-1 0 0,1 0 0,0-1 0,-1 1 0,1-1 0,-1 0 0,0-1 0,4-3 0,1-1 0,88-90 0,-86 86 0,-2 0 0,0-1 0,0 0 0,-1 0 0,0-1 0,10-28 0,13-42 0,-20 58 0,0-2 0,-2 1 0,-1-1 0,-2-1 0,7-49 0,-12 61 0,0 0 0,-1 1 0,0-1 0,-2 0 0,0 0 0,0 1 0,-2-1 0,0 1 0,0 0 0,-2 0 0,0 1 0,0-1 0,-2 2 0,0-1 0,0 1 0,-1 0 0,-1 0 0,-22-23 0,-5-4 0,1-1 0,-48-75 0,64 84 0,2 2 0,-1 1 0,-1 1 0,-1 1 0,-2 1 0,-28-26 0,22 30 0,-1 0 0,-1 3 0,0 0 0,-2 3 0,-49-20 0,21 6-1365,33 14-5461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2:07:29.80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1 24504,'0'1425'0,"6854"-1425"0,-6854-1425 0,-6854 1425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2:07:38.279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4260 91 24575,'-1'-1'0,"1"0"0,0 0 0,0 0 0,-1 0 0,1 0 0,-1 0 0,1 0 0,-1 0 0,1 0 0,-1 1 0,0-1 0,1 0 0,-1 0 0,0 1 0,1-1 0,-1 0 0,0 1 0,0-1 0,0 1 0,1-1 0,-1 1 0,0 0 0,0-1 0,0 1 0,0 0 0,-1-1 0,-33-6 0,29 6 0,-121-12 0,-204 6 0,206 8 0,-2204 1 0,2070-26 0,199 15 0,-1 2 0,0 3 0,0 2 0,-79 10 0,119-5 0,-116 24 0,120-23 0,0 2 0,1 1 0,0 0 0,0 1 0,-29 20 0,9-2 0,2 2 0,1 1 0,1 2 0,1 1 0,-45 64 0,60-74 0,2 2 0,1-1 0,0 2 0,2 0 0,1 1 0,1 0 0,0 0 0,3 1 0,0 0 0,-5 47 0,11-68 0,0 0 0,0-1 0,1 1 0,-1-1 0,1 0 0,0 1 0,0-1 0,1 0 0,0 1 0,0-1 0,0 0 0,0 0 0,1 0 0,0-1 0,0 1 0,0-1 0,0 0 0,1 1 0,-1-1 0,1-1 0,0 1 0,6 4 0,7 3 0,0-1 0,0 0 0,1-1 0,35 12 0,34 8 0,124 23 0,93-1 0,-285-48 0,512 72 0,-435-65 0,-1-5 0,105-7 0,-43-1 0,135 2 0,305 2 0,-6 35 0,-315 11 0,-7 0 0,158-14 0,1063 26 0,-1115-41 0,-138-2 0,1084-4 0,-820-14 0,6 24 0,94 0 0,-588-22 0,0-1 0,0 0 0,0-1 0,-1 0 0,22-7 0,-30 7 0,-1 1 0,1-1 0,-1 0 0,0 0 0,0 0 0,0 0 0,0-1 0,0 1 0,0-1 0,-1 0 0,1 0 0,-1 0 0,1 0 0,-1-1 0,0 1 0,-1-1 0,1 1 0,0-1 0,-1 1 0,0-1 0,0 0 0,1-6 0,31-211 0,-26 189 0,-1 0 0,-2 0 0,-1 0 0,-1-47 0,-4 64 0,1 0 0,-2 0 0,0 0 0,0 1 0,-2-1 0,1 1 0,-2 0 0,0 0 0,0 1 0,-1 0 0,-18-24 0,-3 1 0,-1 2 0,-2 1 0,-1 2 0,-2 1 0,0 1 0,-2 3 0,-1 1 0,-49-25 0,27 21 0,-1 3 0,-2 2 0,0 4 0,-1 2 0,-65-9 0,-92-26 0,139 30 0,-107-15 0,-273 9 0,-8 32 0,123 2 0,-2443-5-1365,2649 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12:09:27.57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customXml" Target="../ink/ink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customXml" Target="../ink/ink10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65102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168872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ΣΑΕΚ • ΤΜΗΜΑ ΠΛΗΡΟΦΟΡΙΚΗΣ &amp; VIDEO GAMES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21297"/>
            <a:ext cx="8601075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Plus Jakarta Sans"/>
              </a:rPr>
              <a:t>Εισαγωγή στο Unity 2D &amp; C#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50927"/>
            <a:ext cx="67627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Plus Jakarta Sans"/>
              </a:rPr>
              <a:t>5 θεμελιώδεις εργαστηριακές ασκήσεις: κίνηση, UI κουμπιά, TextMeshPro, φυσική και triggers.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3237"/>
            <a:ext cx="2042219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42319" y="3043237"/>
            <a:ext cx="2042219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75039" y="3043237"/>
            <a:ext cx="2042219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07758" y="3043237"/>
            <a:ext cx="2042219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40478" y="3043237"/>
            <a:ext cx="2042219" cy="150495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Διάρθρωση Εργαστηρίου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281362"/>
            <a:ext cx="195746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43312"/>
            <a:ext cx="205533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Κίνηση Sprite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948112"/>
            <a:ext cx="166121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Έλεγχος Transform &amp; Input.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0444" y="3281362"/>
            <a:ext cx="195746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0444" y="3643312"/>
            <a:ext cx="205533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UI Κουμπί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0444" y="3948112"/>
            <a:ext cx="166121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Σύνδεση OnClick &amp;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164" y="3281362"/>
            <a:ext cx="195746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3164" y="3643312"/>
            <a:ext cx="20553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TextMeshPro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3164" y="3938587"/>
            <a:ext cx="166121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Δυναμικό κείμενο &amp; χρώμα.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5883" y="3281362"/>
            <a:ext cx="195746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Plus Jakarta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5883" y="3643312"/>
            <a:ext cx="205533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Φυσική 2D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5883" y="3948112"/>
            <a:ext cx="195746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Άλμα με Rigidbody2D.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8603" y="3281362"/>
            <a:ext cx="195746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Plus Jakarta San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8603" y="3643312"/>
            <a:ext cx="205533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Συλλογή Coins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8603" y="3948112"/>
            <a:ext cx="195746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Triggers &amp; Μετρητής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094A76-9A7E-1C99-0B8C-A006E0E19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67" y="300719"/>
            <a:ext cx="9762066" cy="625656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49370D9-34C7-DD72-F7FC-9B18AB4FDA96}"/>
                  </a:ext>
                </a:extLst>
              </p14:cNvPr>
              <p14:cNvContentPartPr/>
              <p14:nvPr/>
            </p14:nvContentPartPr>
            <p14:xfrm>
              <a:off x="2028312" y="1278648"/>
              <a:ext cx="3000960" cy="1801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49370D9-34C7-DD72-F7FC-9B18AB4FDA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4672" y="1170648"/>
                <a:ext cx="3108600" cy="20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7E7EA87-7965-2DA3-1E99-6808BD127660}"/>
                  </a:ext>
                </a:extLst>
              </p14:cNvPr>
              <p14:cNvContentPartPr/>
              <p14:nvPr/>
            </p14:nvContentPartPr>
            <p14:xfrm>
              <a:off x="1917072" y="1078848"/>
              <a:ext cx="2892960" cy="2104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7E7EA87-7965-2DA3-1E99-6808BD1276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10952" y="1072728"/>
                <a:ext cx="2905200" cy="21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F572C66-437A-9C88-C536-75959289460E}"/>
                  </a:ext>
                </a:extLst>
              </p14:cNvPr>
              <p14:cNvContentPartPr/>
              <p14:nvPr/>
            </p14:nvContentPartPr>
            <p14:xfrm>
              <a:off x="1737072" y="1371168"/>
              <a:ext cx="2253960" cy="153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F572C66-437A-9C88-C536-75959289460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83432" y="1263168"/>
                <a:ext cx="2361600" cy="369360"/>
              </a:xfrm>
              <a:prstGeom prst="rect">
                <a:avLst/>
              </a:prstGeom>
            </p:spPr>
          </p:pic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4CA938-1A3B-0C5D-A7AA-67246BA8BABF}"/>
              </a:ext>
            </a:extLst>
          </p:cNvPr>
          <p:cNvCxnSpPr/>
          <p:nvPr/>
        </p:nvCxnSpPr>
        <p:spPr>
          <a:xfrm>
            <a:off x="360947" y="661737"/>
            <a:ext cx="3140242" cy="1864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66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E2A603-1B2B-E4D8-3F79-2440931EA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448" y="571252"/>
            <a:ext cx="8817104" cy="57154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0C9589-A48E-69BA-46E4-7C22EEDA52F6}"/>
                  </a:ext>
                </a:extLst>
              </p14:cNvPr>
              <p14:cNvContentPartPr/>
              <p14:nvPr/>
            </p14:nvContentPartPr>
            <p14:xfrm>
              <a:off x="5851872" y="-1938672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0C9589-A48E-69BA-46E4-7C22EEDA52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45752" y="-19447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7AD26F-E024-476C-6F4B-7653C0C2CEF5}"/>
                  </a:ext>
                </a:extLst>
              </p14:cNvPr>
              <p14:cNvContentPartPr/>
              <p14:nvPr/>
            </p14:nvContentPartPr>
            <p14:xfrm>
              <a:off x="5412312" y="5136408"/>
              <a:ext cx="1045800" cy="795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7AD26F-E024-476C-6F4B-7653C0C2CE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06192" y="5130288"/>
                <a:ext cx="1058040" cy="80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6305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755DC6-766E-8556-05BB-C4669AFD5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912" y="1609344"/>
            <a:ext cx="10536499" cy="274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662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0" y="3059906"/>
            <a:ext cx="5867400" cy="1271438"/>
          </a:xfrm>
          <a:prstGeom prst="roundRect">
            <a:avLst>
              <a:gd name="adj" fmla="val 599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6803194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Άσκηση 1: Μετακίνηση Sprite με Πλήκτρα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44100" y="552450"/>
            <a:ext cx="2047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TRANSFORM.TRANSLATE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941439"/>
            <a:ext cx="63007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Βήματα στο Editor: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0" y="3212306"/>
            <a:ext cx="5581650" cy="966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8BDF8"/>
                </a:solidFill>
                <a:latin typeface="JetBrains Mono"/>
              </a:rPr>
              <a:t>public class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sz="1050" b="0" i="0" u="none">
                <a:solidFill>
                  <a:srgbClr val="FDE047"/>
                </a:solidFill>
                <a:latin typeface="JetBrains Mono"/>
              </a:rPr>
              <a:t>PlayerMovement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: </a:t>
            </a:r>
            <a:r>
              <a:rPr sz="1050" b="0" i="0" u="none">
                <a:solidFill>
                  <a:srgbClr val="4ADE80"/>
                </a:solidFill>
                <a:latin typeface="JetBrains Mono"/>
              </a:rPr>
              <a:t>MonoBehaviour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{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public float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speed = 5f;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void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sz="1050" b="0" i="0" u="none">
                <a:solidFill>
                  <a:srgbClr val="60A5FA"/>
                </a:solidFill>
                <a:latin typeface="JetBrains Mono"/>
              </a:rPr>
              <a:t>Update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() {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float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h = Input.GetAxisRaw(</a:t>
            </a:r>
            <a:r>
              <a:rPr sz="1050" b="0" i="0" u="none">
                <a:solidFill>
                  <a:srgbClr val="A5F3FC"/>
                </a:solidFill>
                <a:latin typeface="JetBrains Mono"/>
              </a:rPr>
              <a:t>"Horizontal"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);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float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v = Input.GetAxisRaw(</a:t>
            </a:r>
            <a:r>
              <a:rPr sz="1050" b="0" i="0" u="none">
                <a:solidFill>
                  <a:srgbClr val="A5F3FC"/>
                </a:solidFill>
                <a:latin typeface="JetBrains Mono"/>
              </a:rPr>
              <a:t>"Vertical"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); Vector2 dir =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new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Vector2(h, v).normalized; transform.Translate(dir * speed * Time.deltaTime); }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3282434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284339"/>
            <a:ext cx="576262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Αντικείμενο: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2D Object &gt; Sprites &gt; Square (`Player`).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3526214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528119"/>
            <a:ext cx="576262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Script: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Δημιουργία `PlayerMovement.cs`.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3769995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771900"/>
            <a:ext cx="576262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Σύνδεση: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Drag-and-drop του script στο `Player`.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4013775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015680"/>
            <a:ext cx="576262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Ρύθμιση: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Ορισμός ταχύτητας `Speed` στο Inspector.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CABE29F-5142-5DB4-FBD7-2FD877E9007A}"/>
                  </a:ext>
                </a:extLst>
              </p14:cNvPr>
              <p14:cNvContentPartPr/>
              <p14:nvPr/>
            </p14:nvContentPartPr>
            <p14:xfrm>
              <a:off x="9673257" y="3753549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CABE29F-5142-5DB4-FBD7-2FD877E900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67137" y="374742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BC86B27-FE6B-CEB4-213E-1957AC0347AB}"/>
                  </a:ext>
                </a:extLst>
              </p14:cNvPr>
              <p14:cNvContentPartPr/>
              <p14:nvPr/>
            </p14:nvContentPartPr>
            <p14:xfrm>
              <a:off x="9324417" y="3741669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BC86B27-FE6B-CEB4-213E-1957AC0347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18297" y="373554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9D7F94-6FE4-A9EC-B494-A2AD6879D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47" y="798015"/>
            <a:ext cx="8486171" cy="442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160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C0BF2CD-C98A-E58F-A45C-D982048728DE}"/>
                  </a:ext>
                </a:extLst>
              </p14:cNvPr>
              <p14:cNvContentPartPr/>
              <p14:nvPr/>
            </p14:nvContentPartPr>
            <p14:xfrm>
              <a:off x="4343097" y="2165589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C0BF2CD-C98A-E58F-A45C-D982048728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36977" y="215946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5ADB437-F28F-6DA6-2805-FA26D28C9220}"/>
              </a:ext>
            </a:extLst>
          </p:cNvPr>
          <p:cNvSpPr txBox="1"/>
          <p:nvPr/>
        </p:nvSpPr>
        <p:spPr>
          <a:xfrm>
            <a:off x="312821" y="394692"/>
            <a:ext cx="1127359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using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UnityEngine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  <a:br>
              <a:rPr lang="en-US" sz="1800" b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public class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PlayerMovement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: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MonoBehaviour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{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// Η τα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χύτητ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 κίνησης του παίκτη (ρυθμίσιμη από τον Inspector)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public float speed = 5f; </a:t>
            </a:r>
            <a:endParaRPr lang="el-G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// Η Update κα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λείτ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αι μία φορά σε κάθε frame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void Update()     { 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//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Λήψη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εισόδου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από τα β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έλη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ή A/D (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Οριζόντι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α) &amp; W/S (Κατακόρυφη). Επ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ιστρέφει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-1, 0, ή 1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float horizontal =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Input.GetAxisRaw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("Horizontal"); 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float vertical =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Input.GetAxisRaw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("Vertical"); </a:t>
            </a:r>
            <a:endParaRPr lang="el-G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//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Δημιουργί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 διανύσματος κατεύθυνσης βασισμένο στην είσοδο του χρήστη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//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Το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.normalized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εμ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ποδίζει τον παίκτη να κινείται πιο γρήγορα όταν πατάει διαγώνια δύο πλήκτρα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Vector2 direction = new Vector2(horizontal, vertical).normalized; </a:t>
            </a:r>
            <a:endParaRPr lang="el-G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//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Μετ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ακίνηση του αντικειμένου στον χώρο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//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Το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Time.deltaTime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εξ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ασφαλίζει ότι η κίνηση είναι ομαλή και ίδια σε όλους τους υπολογιστές, ανεξάρτητα από το frame rate (FPS)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transform.Translate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(direction * speed *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Time.deltaTime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); 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} 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007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E09312-2421-D616-9C91-2A6B971272AE}"/>
              </a:ext>
            </a:extLst>
          </p:cNvPr>
          <p:cNvSpPr txBox="1"/>
          <p:nvPr/>
        </p:nvSpPr>
        <p:spPr>
          <a:xfrm>
            <a:off x="348916" y="178655"/>
            <a:ext cx="11309684" cy="608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1800" b="0" u="none" strike="noStrike" dirty="0" err="1">
                <a:effectLst/>
                <a:latin typeface="+mn-lt"/>
              </a:rPr>
              <a:t>Το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>
                <a:effectLst/>
                <a:latin typeface="+mn-lt"/>
              </a:rPr>
              <a:t>Vector2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είν</a:t>
            </a:r>
            <a:r>
              <a:rPr lang="en-US" sz="1800" b="0" u="none" strike="noStrike" dirty="0">
                <a:effectLst/>
                <a:latin typeface="+mn-lt"/>
              </a:rPr>
              <a:t>αι μια δομή δεδομένων (struct) στη Unity που αντιπροσωπεύει ένα </a:t>
            </a:r>
            <a:r>
              <a:rPr lang="en-US" sz="1800" b="1" u="none" strike="noStrike" dirty="0">
                <a:effectLst/>
                <a:latin typeface="+mn-lt"/>
              </a:rPr>
              <a:t>διάνυσμα δύο διαστάσεων</a:t>
            </a:r>
            <a:r>
              <a:rPr lang="en-US" sz="1800" b="0" u="none" strike="noStrike" dirty="0">
                <a:effectLst/>
                <a:latin typeface="+mn-lt"/>
              </a:rPr>
              <a:t>, δηλαδή περιέχει μόνο δύο τιμές: το </a:t>
            </a:r>
            <a:r>
              <a:rPr lang="en-US" sz="1800" b="1" u="none" strike="noStrike" dirty="0">
                <a:effectLst/>
                <a:latin typeface="+mn-lt"/>
              </a:rPr>
              <a:t>x</a:t>
            </a:r>
            <a:r>
              <a:rPr lang="en-US" sz="1800" b="0" u="none" strike="noStrike" dirty="0">
                <a:effectLst/>
                <a:latin typeface="+mn-lt"/>
              </a:rPr>
              <a:t> (οριζόντιος άξονας) και το </a:t>
            </a:r>
            <a:r>
              <a:rPr lang="en-US" sz="1800" b="1" u="none" strike="noStrike" dirty="0">
                <a:effectLst/>
                <a:latin typeface="+mn-lt"/>
              </a:rPr>
              <a:t>y</a:t>
            </a:r>
            <a:r>
              <a:rPr lang="en-US" sz="1800" b="0" u="none" strike="noStrike" dirty="0">
                <a:effectLst/>
                <a:latin typeface="+mn-lt"/>
              </a:rPr>
              <a:t> (κατακόρυφος άξονας).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1800" b="0" u="none" strike="noStrike" dirty="0" err="1">
                <a:effectLst/>
                <a:latin typeface="+mn-lt"/>
              </a:rPr>
              <a:t>Στ</a:t>
            </a:r>
            <a:r>
              <a:rPr lang="en-US" sz="1800" b="0" u="none" strike="noStrike" dirty="0">
                <a:effectLst/>
                <a:latin typeface="+mn-lt"/>
              </a:rPr>
              <a:t>α παιχνίδια χρησιμοποιείται κυρίως για δύο πράγματα: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1800" b="1" u="none" strike="noStrike" dirty="0" err="1">
                <a:effectLst/>
                <a:latin typeface="+mn-lt"/>
              </a:rPr>
              <a:t>Θέση</a:t>
            </a:r>
            <a:r>
              <a:rPr lang="en-US" sz="1800" b="1" u="none" strike="noStrike" dirty="0">
                <a:effectLst/>
                <a:latin typeface="+mn-lt"/>
              </a:rPr>
              <a:t> (Position):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Μι</a:t>
            </a:r>
            <a:r>
              <a:rPr lang="en-US" sz="1800" b="0" u="none" strike="noStrike" dirty="0">
                <a:effectLst/>
                <a:latin typeface="+mn-lt"/>
              </a:rPr>
              <a:t>α συγκεκριμένη συντεταγμένη πάνω στην οθόνη ή στον κόσμο του παιχνιδιού (π.χ. x = 3, y = 5).</a:t>
            </a:r>
          </a:p>
          <a:p>
            <a:pPr marL="342900" marR="0" lvl="0" indent="-342900">
              <a:spcBef>
                <a:spcPts val="9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b="1" u="none" strike="noStrike" dirty="0">
                <a:effectLst/>
                <a:latin typeface="+mn-lt"/>
              </a:rPr>
              <a:t>Κα</a:t>
            </a:r>
            <a:r>
              <a:rPr lang="en-US" sz="1800" b="1" u="none" strike="noStrike" dirty="0" err="1">
                <a:effectLst/>
                <a:latin typeface="+mn-lt"/>
              </a:rPr>
              <a:t>τεύθυνση</a:t>
            </a:r>
            <a:r>
              <a:rPr lang="en-US" sz="1800" b="1" u="none" strike="noStrike" dirty="0">
                <a:effectLst/>
                <a:latin typeface="+mn-lt"/>
              </a:rPr>
              <a:t> (Direction):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Προς</a:t>
            </a:r>
            <a:r>
              <a:rPr lang="en-US" sz="1800" b="0" u="none" strike="noStrike" dirty="0">
                <a:effectLst/>
                <a:latin typeface="+mn-lt"/>
              </a:rPr>
              <a:t> τα π</a:t>
            </a:r>
            <a:r>
              <a:rPr lang="en-US" sz="1800" b="0" u="none" strike="noStrike" dirty="0" err="1">
                <a:effectLst/>
                <a:latin typeface="+mn-lt"/>
              </a:rPr>
              <a:t>ού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δείχνει</a:t>
            </a:r>
            <a:r>
              <a:rPr lang="en-US" sz="1800" b="0" u="none" strike="noStrike" dirty="0">
                <a:effectLst/>
                <a:latin typeface="+mn-lt"/>
              </a:rPr>
              <a:t> ή π</a:t>
            </a:r>
            <a:r>
              <a:rPr lang="en-US" sz="1800" b="0" u="none" strike="noStrike" dirty="0" err="1">
                <a:effectLst/>
                <a:latin typeface="+mn-lt"/>
              </a:rPr>
              <a:t>ρος</a:t>
            </a:r>
            <a:r>
              <a:rPr lang="en-US" sz="1800" b="0" u="none" strike="noStrike" dirty="0">
                <a:effectLst/>
                <a:latin typeface="+mn-lt"/>
              </a:rPr>
              <a:t> τα π</a:t>
            </a:r>
            <a:r>
              <a:rPr lang="en-US" sz="1800" b="0" u="none" strike="noStrike" dirty="0" err="1">
                <a:effectLst/>
                <a:latin typeface="+mn-lt"/>
              </a:rPr>
              <a:t>ού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κινείτ</a:t>
            </a:r>
            <a:r>
              <a:rPr lang="en-US" sz="1800" b="0" u="none" strike="noStrike" dirty="0">
                <a:effectLst/>
                <a:latin typeface="+mn-lt"/>
              </a:rPr>
              <a:t>αι κάτι (π.χ. </a:t>
            </a:r>
            <a:r>
              <a:rPr lang="en-US" sz="1800" b="0" u="none" strike="noStrike" dirty="0" err="1">
                <a:effectLst/>
                <a:latin typeface="+mn-lt"/>
              </a:rPr>
              <a:t>το</a:t>
            </a:r>
            <a:r>
              <a:rPr lang="en-US" sz="1800" b="0" u="none" strike="noStrike" dirty="0">
                <a:effectLst/>
                <a:latin typeface="+mn-lt"/>
              </a:rPr>
              <a:t> x = 1, y = 0 </a:t>
            </a:r>
            <a:r>
              <a:rPr lang="en-US" sz="1800" b="0" u="none" strike="noStrike" dirty="0" err="1">
                <a:effectLst/>
                <a:latin typeface="+mn-lt"/>
              </a:rPr>
              <a:t>σημ</a:t>
            </a:r>
            <a:r>
              <a:rPr lang="en-US" sz="1800" b="0" u="none" strike="noStrike" dirty="0">
                <a:effectLst/>
                <a:latin typeface="+mn-lt"/>
              </a:rPr>
              <a:t>αίνει «κοίτα/κινήσου καθαρά δεξιά»).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1800" b="1" u="none" strike="noStrike" dirty="0" err="1">
                <a:effectLst/>
                <a:latin typeface="+mn-lt"/>
              </a:rPr>
              <a:t>Πώς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λειτουργεί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στο</a:t>
            </a:r>
            <a:r>
              <a:rPr lang="el-GR" b="1" dirty="0"/>
              <a:t>ν</a:t>
            </a:r>
            <a:r>
              <a:rPr lang="en-US" sz="1800" b="1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κώδικ</a:t>
            </a:r>
            <a:r>
              <a:rPr lang="en-US" sz="1800" b="1" u="none" strike="noStrike" dirty="0">
                <a:effectLst/>
                <a:latin typeface="+mn-lt"/>
              </a:rPr>
              <a:t>α: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1800" b="0" u="none" strike="noStrike" dirty="0" err="1">
                <a:effectLst/>
                <a:latin typeface="+mn-lt"/>
              </a:rPr>
              <a:t>Ότ</a:t>
            </a:r>
            <a:r>
              <a:rPr lang="en-US" sz="1800" b="0" u="none" strike="noStrike" dirty="0">
                <a:effectLst/>
                <a:latin typeface="+mn-lt"/>
              </a:rPr>
              <a:t>αν γράφεις new Vector2(horizontal, vertical), δημιουργείς ένα νέο αντικείμενο που συνδυάζει τις εισόδους του παίκτη. </a:t>
            </a:r>
            <a:r>
              <a:rPr lang="en-US" sz="1800" b="0" u="none" strike="noStrike" dirty="0" err="1">
                <a:effectLst/>
                <a:latin typeface="+mn-lt"/>
              </a:rPr>
              <a:t>Γι</a:t>
            </a:r>
            <a:r>
              <a:rPr lang="en-US" sz="1800" b="0" u="none" strike="noStrike" dirty="0">
                <a:effectLst/>
                <a:latin typeface="+mn-lt"/>
              </a:rPr>
              <a:t>α παράδειγμα: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0" u="none" strike="noStrike" dirty="0" err="1">
                <a:effectLst/>
                <a:latin typeface="+mn-lt"/>
              </a:rPr>
              <a:t>Αν</a:t>
            </a:r>
            <a:r>
              <a:rPr lang="en-US" sz="1800" b="0" u="none" strike="noStrike" dirty="0">
                <a:effectLst/>
                <a:latin typeface="+mn-lt"/>
              </a:rPr>
              <a:t> πα</a:t>
            </a:r>
            <a:r>
              <a:rPr lang="en-US" sz="1800" b="0" u="none" strike="noStrike" dirty="0" err="1">
                <a:effectLst/>
                <a:latin typeface="+mn-lt"/>
              </a:rPr>
              <a:t>τάς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το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Δεξί</a:t>
            </a:r>
            <a:r>
              <a:rPr lang="en-US" sz="1800" b="1" u="none" strike="noStrike" dirty="0">
                <a:effectLst/>
                <a:latin typeface="+mn-lt"/>
              </a:rPr>
              <a:t> β</a:t>
            </a:r>
            <a:r>
              <a:rPr lang="en-US" sz="1800" b="1" u="none" strike="noStrike" dirty="0" err="1">
                <a:effectLst/>
                <a:latin typeface="+mn-lt"/>
              </a:rPr>
              <a:t>έλος</a:t>
            </a:r>
            <a:r>
              <a:rPr lang="en-US" sz="1800" b="0" u="none" strike="noStrike" dirty="0">
                <a:effectLst/>
                <a:latin typeface="+mn-lt"/>
              </a:rPr>
              <a:t>, </a:t>
            </a:r>
            <a:r>
              <a:rPr lang="en-US" sz="1800" b="0" u="none" strike="noStrike" dirty="0" err="1">
                <a:effectLst/>
                <a:latin typeface="+mn-lt"/>
              </a:rPr>
              <a:t>το</a:t>
            </a:r>
            <a:r>
              <a:rPr lang="en-US" sz="1800" b="0" u="none" strike="noStrike" dirty="0">
                <a:effectLst/>
                <a:latin typeface="+mn-lt"/>
              </a:rPr>
              <a:t> horizontal </a:t>
            </a:r>
            <a:r>
              <a:rPr lang="en-US" sz="1800" b="0" u="none" strike="noStrike" dirty="0" err="1">
                <a:effectLst/>
                <a:latin typeface="+mn-lt"/>
              </a:rPr>
              <a:t>είν</a:t>
            </a:r>
            <a:r>
              <a:rPr lang="en-US" sz="1800" b="0" u="none" strike="noStrike" dirty="0">
                <a:effectLst/>
                <a:latin typeface="+mn-lt"/>
              </a:rPr>
              <a:t>αι 1 και το vertical είναι 0. </a:t>
            </a:r>
            <a:r>
              <a:rPr lang="en-US" sz="1800" b="0" u="none" strike="noStrike" dirty="0" err="1">
                <a:effectLst/>
                <a:latin typeface="+mn-lt"/>
              </a:rPr>
              <a:t>Το</a:t>
            </a:r>
            <a:r>
              <a:rPr lang="en-US" sz="1800" b="0" u="none" strike="noStrike" dirty="0">
                <a:effectLst/>
                <a:latin typeface="+mn-lt"/>
              </a:rPr>
              <a:t> Vector2 </a:t>
            </a:r>
            <a:r>
              <a:rPr lang="en-US" sz="1800" b="0" u="none" strike="noStrike" dirty="0" err="1">
                <a:effectLst/>
                <a:latin typeface="+mn-lt"/>
              </a:rPr>
              <a:t>σου</a:t>
            </a:r>
            <a:r>
              <a:rPr lang="en-US" sz="1800" b="0" u="none" strike="noStrike" dirty="0">
                <a:effectLst/>
                <a:latin typeface="+mn-lt"/>
              </a:rPr>
              <a:t> θα </a:t>
            </a:r>
            <a:r>
              <a:rPr lang="en-US" sz="1800" b="0" u="none" strike="noStrike" dirty="0" err="1">
                <a:effectLst/>
                <a:latin typeface="+mn-lt"/>
              </a:rPr>
              <a:t>είν</a:t>
            </a:r>
            <a:r>
              <a:rPr lang="en-US" sz="1800" b="0" u="none" strike="noStrike" dirty="0">
                <a:effectLst/>
                <a:latin typeface="+mn-lt"/>
              </a:rPr>
              <a:t>αι (1, 0), που σημαίνει </a:t>
            </a:r>
            <a:r>
              <a:rPr lang="en-US" sz="1800" b="1" u="none" strike="noStrike" dirty="0">
                <a:effectLst/>
                <a:latin typeface="+mn-lt"/>
              </a:rPr>
              <a:t>κίνηση δεξιά</a:t>
            </a:r>
            <a:r>
              <a:rPr lang="en-US" sz="1800" b="0" u="none" strike="noStrike" dirty="0">
                <a:effectLst/>
                <a:latin typeface="+mn-lt"/>
              </a:rPr>
              <a:t>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b="0" u="none" strike="noStrike" dirty="0" err="1">
                <a:effectLst/>
                <a:latin typeface="+mn-lt"/>
              </a:rPr>
              <a:t>Αν</a:t>
            </a:r>
            <a:r>
              <a:rPr lang="en-US" sz="1800" b="0" u="none" strike="noStrike" dirty="0">
                <a:effectLst/>
                <a:latin typeface="+mn-lt"/>
              </a:rPr>
              <a:t> πα</a:t>
            </a:r>
            <a:r>
              <a:rPr lang="en-US" sz="1800" b="0" u="none" strike="noStrike" dirty="0" err="1">
                <a:effectLst/>
                <a:latin typeface="+mn-lt"/>
              </a:rPr>
              <a:t>τάς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το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1" u="none" strike="noStrike" dirty="0" err="1">
                <a:effectLst/>
                <a:latin typeface="+mn-lt"/>
              </a:rPr>
              <a:t>Κάτω</a:t>
            </a:r>
            <a:r>
              <a:rPr lang="en-US" sz="1800" b="1" u="none" strike="noStrike" dirty="0">
                <a:effectLst/>
                <a:latin typeface="+mn-lt"/>
              </a:rPr>
              <a:t> β</a:t>
            </a:r>
            <a:r>
              <a:rPr lang="en-US" sz="1800" b="1" u="none" strike="noStrike" dirty="0" err="1">
                <a:effectLst/>
                <a:latin typeface="+mn-lt"/>
              </a:rPr>
              <a:t>έλος</a:t>
            </a:r>
            <a:r>
              <a:rPr lang="en-US" sz="1800" b="0" u="none" strike="noStrike" dirty="0">
                <a:effectLst/>
                <a:latin typeface="+mn-lt"/>
              </a:rPr>
              <a:t>, </a:t>
            </a:r>
            <a:r>
              <a:rPr lang="en-US" sz="1800" b="0" u="none" strike="noStrike" dirty="0" err="1">
                <a:effectLst/>
                <a:latin typeface="+mn-lt"/>
              </a:rPr>
              <a:t>το</a:t>
            </a:r>
            <a:r>
              <a:rPr lang="en-US" sz="1800" b="0" u="none" strike="noStrike" dirty="0">
                <a:effectLst/>
                <a:latin typeface="+mn-lt"/>
              </a:rPr>
              <a:t> horizontal </a:t>
            </a:r>
            <a:r>
              <a:rPr lang="en-US" sz="1800" b="0" u="none" strike="noStrike" dirty="0" err="1">
                <a:effectLst/>
                <a:latin typeface="+mn-lt"/>
              </a:rPr>
              <a:t>είν</a:t>
            </a:r>
            <a:r>
              <a:rPr lang="en-US" sz="1800" b="0" u="none" strike="noStrike" dirty="0">
                <a:effectLst/>
                <a:latin typeface="+mn-lt"/>
              </a:rPr>
              <a:t>αι 0 και το vertical είναι -1. </a:t>
            </a:r>
            <a:r>
              <a:rPr lang="en-US" sz="1800" b="0" u="none" strike="noStrike" dirty="0" err="1">
                <a:effectLst/>
                <a:latin typeface="+mn-lt"/>
              </a:rPr>
              <a:t>Το</a:t>
            </a:r>
            <a:r>
              <a:rPr lang="en-US" sz="1800" b="0" u="none" strike="noStrike" dirty="0">
                <a:effectLst/>
                <a:latin typeface="+mn-lt"/>
              </a:rPr>
              <a:t> Vector2 </a:t>
            </a:r>
            <a:r>
              <a:rPr lang="en-US" sz="1800" b="0" u="none" strike="noStrike" dirty="0" err="1">
                <a:effectLst/>
                <a:latin typeface="+mn-lt"/>
              </a:rPr>
              <a:t>σου</a:t>
            </a:r>
            <a:r>
              <a:rPr lang="en-US" sz="1800" b="0" u="none" strike="noStrike" dirty="0">
                <a:effectLst/>
                <a:latin typeface="+mn-lt"/>
              </a:rPr>
              <a:t> θα </a:t>
            </a:r>
            <a:r>
              <a:rPr lang="en-US" sz="1800" b="0" u="none" strike="noStrike" dirty="0" err="1">
                <a:effectLst/>
                <a:latin typeface="+mn-lt"/>
              </a:rPr>
              <a:t>είν</a:t>
            </a:r>
            <a:r>
              <a:rPr lang="en-US" sz="1800" b="0" u="none" strike="noStrike" dirty="0">
                <a:effectLst/>
                <a:latin typeface="+mn-lt"/>
              </a:rPr>
              <a:t>αι (0, -1), που σημαίνει </a:t>
            </a:r>
            <a:r>
              <a:rPr lang="en-US" sz="1800" b="1" u="none" strike="noStrike" dirty="0">
                <a:effectLst/>
                <a:latin typeface="+mn-lt"/>
              </a:rPr>
              <a:t>κίνηση προς τα κάτω</a:t>
            </a:r>
            <a:r>
              <a:rPr lang="en-US" sz="1800" b="0" u="none" strike="noStrike" dirty="0">
                <a:effectLst/>
                <a:latin typeface="+mn-lt"/>
              </a:rPr>
              <a:t>.</a:t>
            </a:r>
          </a:p>
          <a:p>
            <a:pPr marL="342900" marR="0" lvl="0" indent="-342900">
              <a:spcBef>
                <a:spcPts val="9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u="none" strike="noStrike" dirty="0" err="1">
                <a:effectLst/>
                <a:latin typeface="+mn-lt"/>
              </a:rPr>
              <a:t>Αν</a:t>
            </a:r>
            <a:r>
              <a:rPr lang="en-US" sz="1800" b="0" u="none" strike="noStrike" dirty="0">
                <a:effectLst/>
                <a:latin typeface="+mn-lt"/>
              </a:rPr>
              <a:t> πα</a:t>
            </a:r>
            <a:r>
              <a:rPr lang="en-US" sz="1800" b="0" u="none" strike="noStrike" dirty="0" err="1">
                <a:effectLst/>
                <a:latin typeface="+mn-lt"/>
              </a:rPr>
              <a:t>τάς</a:t>
            </a:r>
            <a:r>
              <a:rPr lang="en-US" sz="1800" b="0" u="none" strike="noStrike" dirty="0">
                <a:effectLst/>
                <a:latin typeface="+mn-lt"/>
              </a:rPr>
              <a:t> τα</a:t>
            </a:r>
            <a:r>
              <a:rPr lang="en-US" sz="1800" b="0" u="none" strike="noStrike" dirty="0" err="1">
                <a:effectLst/>
                <a:latin typeface="+mn-lt"/>
              </a:rPr>
              <a:t>υτόχρον</a:t>
            </a:r>
            <a:r>
              <a:rPr lang="en-US" sz="1800" b="0" u="none" strike="noStrike" dirty="0">
                <a:effectLst/>
                <a:latin typeface="+mn-lt"/>
              </a:rPr>
              <a:t>α </a:t>
            </a:r>
            <a:r>
              <a:rPr lang="en-US" sz="1800" b="1" u="none" strike="noStrike" dirty="0">
                <a:effectLst/>
                <a:latin typeface="+mn-lt"/>
              </a:rPr>
              <a:t>Πάνω και Δεξιά</a:t>
            </a:r>
            <a:r>
              <a:rPr lang="en-US" sz="1800" b="0" u="none" strike="noStrike" dirty="0">
                <a:effectLst/>
                <a:latin typeface="+mn-lt"/>
              </a:rPr>
              <a:t>, το Vector2 γίνεται (1, 1), που σημαίνει </a:t>
            </a:r>
            <a:r>
              <a:rPr lang="en-US" sz="1800" b="1" u="none" strike="noStrike" dirty="0">
                <a:effectLst/>
                <a:latin typeface="+mn-lt"/>
              </a:rPr>
              <a:t>διαγώνια κίνηση</a:t>
            </a:r>
            <a:endParaRPr lang="en-US" sz="1200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476402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58C8EB-CE2F-E551-2411-26CBAE7556D9}"/>
              </a:ext>
            </a:extLst>
          </p:cNvPr>
          <p:cNvSpPr txBox="1"/>
          <p:nvPr/>
        </p:nvSpPr>
        <p:spPr>
          <a:xfrm>
            <a:off x="565483" y="2782760"/>
            <a:ext cx="10503569" cy="345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1800" b="0" u="none" strike="noStrike" dirty="0">
                <a:effectLst/>
                <a:latin typeface="+mn-lt"/>
              </a:rPr>
              <a:t>Μπ</a:t>
            </a:r>
            <a:r>
              <a:rPr lang="en-US" sz="1800" b="0" u="none" strike="noStrike" dirty="0" err="1">
                <a:effectLst/>
                <a:latin typeface="+mn-lt"/>
              </a:rPr>
              <a:t>ορείς</a:t>
            </a:r>
            <a:r>
              <a:rPr lang="en-US" sz="1800" b="0" u="none" strike="noStrike" dirty="0">
                <a:effectLst/>
                <a:latin typeface="+mn-lt"/>
              </a:rPr>
              <a:t> να π</a:t>
            </a:r>
            <a:r>
              <a:rPr lang="en-US" sz="1800" b="0" u="none" strike="noStrike" dirty="0" err="1">
                <a:effectLst/>
                <a:latin typeface="+mn-lt"/>
              </a:rPr>
              <a:t>εις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στη</a:t>
            </a:r>
            <a:r>
              <a:rPr lang="en-US" sz="1800" b="0" u="none" strike="noStrike" dirty="0">
                <a:effectLst/>
                <a:latin typeface="+mn-lt"/>
              </a:rPr>
              <a:t> Unity να </a:t>
            </a:r>
            <a:r>
              <a:rPr lang="en-US" sz="1800" b="0" u="none" strike="noStrike" dirty="0" err="1">
                <a:effectLst/>
                <a:latin typeface="+mn-lt"/>
              </a:rPr>
              <a:t>δέχετ</a:t>
            </a:r>
            <a:r>
              <a:rPr lang="en-US" sz="1800" b="0" u="none" strike="noStrike" dirty="0">
                <a:effectLst/>
                <a:latin typeface="+mn-lt"/>
              </a:rPr>
              <a:t>αι και το παλιό και το νέο σύστημα εισόδου: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1800" b="0" u="none" strike="noStrike" dirty="0" err="1">
                <a:effectLst/>
                <a:latin typeface="+mn-lt"/>
              </a:rPr>
              <a:t>Στο</a:t>
            </a:r>
            <a:r>
              <a:rPr lang="en-US" sz="1800" b="0" u="none" strike="noStrike" dirty="0">
                <a:effectLst/>
                <a:latin typeface="+mn-lt"/>
              </a:rPr>
              <a:t> π</a:t>
            </a:r>
            <a:r>
              <a:rPr lang="en-US" sz="1800" b="0" u="none" strike="noStrike" dirty="0" err="1">
                <a:effectLst/>
                <a:latin typeface="+mn-lt"/>
              </a:rPr>
              <a:t>άνω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μενού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της</a:t>
            </a:r>
            <a:r>
              <a:rPr lang="en-US" sz="1800" b="0" u="none" strike="noStrike" dirty="0">
                <a:effectLst/>
                <a:latin typeface="+mn-lt"/>
              </a:rPr>
              <a:t> Unity, π</a:t>
            </a:r>
            <a:r>
              <a:rPr lang="en-US" sz="1800" b="0" u="none" strike="noStrike" dirty="0" err="1">
                <a:effectLst/>
                <a:latin typeface="+mn-lt"/>
              </a:rPr>
              <a:t>ήγ</a:t>
            </a:r>
            <a:r>
              <a:rPr lang="en-US" sz="1800" b="0" u="none" strike="noStrike" dirty="0">
                <a:effectLst/>
                <a:latin typeface="+mn-lt"/>
              </a:rPr>
              <a:t>αινε </a:t>
            </a:r>
            <a:r>
              <a:rPr lang="en-US" sz="1800" b="1" u="none" strike="noStrike" dirty="0">
                <a:effectLst/>
                <a:latin typeface="+mn-lt"/>
              </a:rPr>
              <a:t>Edit</a:t>
            </a:r>
            <a:r>
              <a:rPr lang="en-US" sz="1800" b="0" u="none" strike="noStrike" dirty="0">
                <a:effectLst/>
                <a:latin typeface="+mn-lt"/>
              </a:rPr>
              <a:t> -&gt; </a:t>
            </a:r>
            <a:r>
              <a:rPr lang="en-US" sz="1800" b="1" u="none" strike="noStrike" dirty="0">
                <a:effectLst/>
                <a:latin typeface="+mn-lt"/>
              </a:rPr>
              <a:t>Project Settings</a:t>
            </a:r>
            <a:r>
              <a:rPr lang="en-US" sz="1800" b="0" u="none" strike="noStrike" dirty="0">
                <a:effectLst/>
                <a:latin typeface="+mn-lt"/>
              </a:rPr>
              <a:t>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1800" b="0" u="none" strike="noStrike" dirty="0" err="1">
                <a:effectLst/>
                <a:latin typeface="+mn-lt"/>
              </a:rPr>
              <a:t>Στο</a:t>
            </a:r>
            <a:r>
              <a:rPr lang="en-US" sz="1800" b="0" u="none" strike="noStrike" dirty="0">
                <a:effectLst/>
                <a:latin typeface="+mn-lt"/>
              </a:rPr>
              <a:t> πα</a:t>
            </a:r>
            <a:r>
              <a:rPr lang="en-US" sz="1800" b="0" u="none" strike="noStrike" dirty="0" err="1">
                <a:effectLst/>
                <a:latin typeface="+mn-lt"/>
              </a:rPr>
              <a:t>ράθυρο</a:t>
            </a:r>
            <a:r>
              <a:rPr lang="en-US" sz="1800" b="0" u="none" strike="noStrike" dirty="0">
                <a:effectLst/>
                <a:latin typeface="+mn-lt"/>
              </a:rPr>
              <a:t> π</a:t>
            </a:r>
            <a:r>
              <a:rPr lang="en-US" sz="1800" b="0" u="none" strike="noStrike" dirty="0" err="1">
                <a:effectLst/>
                <a:latin typeface="+mn-lt"/>
              </a:rPr>
              <a:t>ου</a:t>
            </a:r>
            <a:r>
              <a:rPr lang="en-US" sz="1800" b="0" u="none" strike="noStrike" dirty="0">
                <a:effectLst/>
                <a:latin typeface="+mn-lt"/>
              </a:rPr>
              <a:t> θα α</a:t>
            </a:r>
            <a:r>
              <a:rPr lang="en-US" sz="1800" b="0" u="none" strike="noStrike" dirty="0" err="1">
                <a:effectLst/>
                <a:latin typeface="+mn-lt"/>
              </a:rPr>
              <a:t>νοίξει</a:t>
            </a:r>
            <a:r>
              <a:rPr lang="en-US" sz="1800" b="0" u="none" strike="noStrike" dirty="0">
                <a:effectLst/>
                <a:latin typeface="+mn-lt"/>
              </a:rPr>
              <a:t>, επ</a:t>
            </a:r>
            <a:r>
              <a:rPr lang="en-US" sz="1800" b="0" u="none" strike="noStrike" dirty="0" err="1">
                <a:effectLst/>
                <a:latin typeface="+mn-lt"/>
              </a:rPr>
              <a:t>ίλεξε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την</a:t>
            </a:r>
            <a:r>
              <a:rPr lang="en-US" sz="1800" b="0" u="none" strike="noStrike" dirty="0">
                <a:effectLst/>
                <a:latin typeface="+mn-lt"/>
              </a:rPr>
              <a:t> κα</a:t>
            </a:r>
            <a:r>
              <a:rPr lang="en-US" sz="1800" b="0" u="none" strike="noStrike" dirty="0" err="1">
                <a:effectLst/>
                <a:latin typeface="+mn-lt"/>
              </a:rPr>
              <a:t>ρτέλ</a:t>
            </a:r>
            <a:r>
              <a:rPr lang="en-US" sz="1800" b="0" u="none" strike="noStrike" dirty="0">
                <a:effectLst/>
                <a:latin typeface="+mn-lt"/>
              </a:rPr>
              <a:t>α </a:t>
            </a:r>
            <a:r>
              <a:rPr lang="en-US" sz="1800" b="1" u="none" strike="noStrike" dirty="0">
                <a:effectLst/>
                <a:latin typeface="+mn-lt"/>
              </a:rPr>
              <a:t>Player</a:t>
            </a:r>
            <a:r>
              <a:rPr lang="en-US" sz="1800" b="0" u="none" strike="noStrike" dirty="0">
                <a:effectLst/>
                <a:latin typeface="+mn-lt"/>
              </a:rPr>
              <a:t> (στα αριστερά).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1800" b="0" u="none" strike="noStrike" dirty="0" err="1">
                <a:effectLst/>
                <a:latin typeface="+mn-lt"/>
              </a:rPr>
              <a:t>Στο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δεξί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μέρος</a:t>
            </a:r>
            <a:r>
              <a:rPr lang="en-US" sz="1800" b="0" u="none" strike="noStrike" dirty="0">
                <a:effectLst/>
                <a:latin typeface="+mn-lt"/>
              </a:rPr>
              <a:t>, β</a:t>
            </a:r>
            <a:r>
              <a:rPr lang="en-US" sz="1800" b="0" u="none" strike="noStrike" dirty="0" err="1">
                <a:effectLst/>
                <a:latin typeface="+mn-lt"/>
              </a:rPr>
              <a:t>ρες</a:t>
            </a:r>
            <a:r>
              <a:rPr lang="en-US" sz="1800" b="0" u="none" strike="noStrike" dirty="0">
                <a:effectLst/>
                <a:latin typeface="+mn-lt"/>
              </a:rPr>
              <a:t> και </a:t>
            </a:r>
            <a:r>
              <a:rPr lang="en-US" sz="1800" b="0" u="none" strike="noStrike" dirty="0" err="1">
                <a:effectLst/>
                <a:latin typeface="+mn-lt"/>
              </a:rPr>
              <a:t>άνοιξε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την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ενότητ</a:t>
            </a:r>
            <a:r>
              <a:rPr lang="en-US" sz="1800" b="0" u="none" strike="noStrike" dirty="0">
                <a:effectLst/>
                <a:latin typeface="+mn-lt"/>
              </a:rPr>
              <a:t>α </a:t>
            </a:r>
            <a:r>
              <a:rPr lang="en-US" sz="1800" b="1" u="none" strike="noStrike" dirty="0">
                <a:effectLst/>
                <a:latin typeface="+mn-lt"/>
              </a:rPr>
              <a:t>Other Settings</a:t>
            </a:r>
            <a:r>
              <a:rPr lang="en-US" sz="1800" b="0" u="none" strike="noStrike" dirty="0">
                <a:effectLst/>
                <a:latin typeface="+mn-lt"/>
              </a:rPr>
              <a:t>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1800" b="0" u="none" strike="noStrike" dirty="0">
                <a:effectLst/>
                <a:latin typeface="+mn-lt"/>
              </a:rPr>
              <a:t>Κα</a:t>
            </a:r>
            <a:r>
              <a:rPr lang="en-US" sz="1800" b="0" u="none" strike="noStrike" dirty="0" err="1">
                <a:effectLst/>
                <a:latin typeface="+mn-lt"/>
              </a:rPr>
              <a:t>τέ</a:t>
            </a:r>
            <a:r>
              <a:rPr lang="en-US" sz="1800" b="0" u="none" strike="noStrike" dirty="0">
                <a:effectLst/>
                <a:latin typeface="+mn-lt"/>
              </a:rPr>
              <a:t>βα μέχρι να βρεις την επιλογή </a:t>
            </a:r>
            <a:r>
              <a:rPr lang="en-US" sz="1800" b="1" u="none" strike="noStrike" dirty="0">
                <a:effectLst/>
                <a:latin typeface="+mn-lt"/>
              </a:rPr>
              <a:t>Active Input Handling</a:t>
            </a:r>
            <a:r>
              <a:rPr lang="en-US" sz="1800" b="0" u="none" strike="noStrike" dirty="0">
                <a:effectLst/>
                <a:latin typeface="+mn-lt"/>
              </a:rPr>
              <a:t>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1800" b="0" u="none" strike="noStrike" dirty="0" err="1">
                <a:effectLst/>
                <a:latin typeface="+mn-lt"/>
              </a:rPr>
              <a:t>Άλλ</a:t>
            </a:r>
            <a:r>
              <a:rPr lang="en-US" sz="1800" b="0" u="none" strike="noStrike" dirty="0">
                <a:effectLst/>
                <a:latin typeface="+mn-lt"/>
              </a:rPr>
              <a:t>αξέ το από </a:t>
            </a:r>
            <a:r>
              <a:rPr lang="en-US" sz="1800" b="0" i="1" u="none" strike="noStrike" dirty="0">
                <a:effectLst/>
                <a:latin typeface="+mn-lt"/>
              </a:rPr>
              <a:t>Input System Package (New)</a:t>
            </a:r>
            <a:r>
              <a:rPr lang="en-US" sz="1800" b="0" u="none" strike="noStrike" dirty="0">
                <a:effectLst/>
                <a:latin typeface="+mn-lt"/>
              </a:rPr>
              <a:t> σε </a:t>
            </a:r>
            <a:r>
              <a:rPr lang="en-US" sz="1800" b="1" u="none" strike="noStrike" dirty="0">
                <a:effectLst/>
                <a:latin typeface="+mn-lt"/>
              </a:rPr>
              <a:t>Both</a:t>
            </a:r>
            <a:r>
              <a:rPr lang="en-US" sz="1800" b="0" u="none" strike="noStrike" dirty="0">
                <a:effectLst/>
                <a:latin typeface="+mn-lt"/>
              </a:rPr>
              <a:t> (ή </a:t>
            </a:r>
            <a:r>
              <a:rPr lang="en-US" sz="1800" b="0" i="1" u="none" strike="noStrike" dirty="0">
                <a:effectLst/>
                <a:latin typeface="+mn-lt"/>
              </a:rPr>
              <a:t>Input Manager (Old)</a:t>
            </a:r>
            <a:r>
              <a:rPr lang="en-US" sz="1800" b="0" u="none" strike="noStrike" dirty="0">
                <a:effectLst/>
                <a:latin typeface="+mn-lt"/>
              </a:rPr>
              <a:t>).</a:t>
            </a:r>
          </a:p>
          <a:p>
            <a:pPr marL="342900" marR="0" lvl="0" indent="-342900">
              <a:spcBef>
                <a:spcPts val="9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b="0" u="none" strike="noStrike" dirty="0">
                <a:effectLst/>
                <a:latin typeface="+mn-lt"/>
              </a:rPr>
              <a:t>Η Unity θα </a:t>
            </a:r>
            <a:r>
              <a:rPr lang="en-US" sz="1800" b="0" u="none" strike="noStrike" dirty="0" err="1">
                <a:effectLst/>
                <a:latin typeface="+mn-lt"/>
              </a:rPr>
              <a:t>σου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ζητήσει</a:t>
            </a:r>
            <a:r>
              <a:rPr lang="en-US" sz="1800" b="0" u="none" strike="noStrike" dirty="0">
                <a:effectLst/>
                <a:latin typeface="+mn-lt"/>
              </a:rPr>
              <a:t> να </a:t>
            </a:r>
            <a:r>
              <a:rPr lang="en-US" sz="1800" b="0" u="none" strike="noStrike" dirty="0" err="1">
                <a:effectLst/>
                <a:latin typeface="+mn-lt"/>
              </a:rPr>
              <a:t>κάνει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έν</a:t>
            </a:r>
            <a:r>
              <a:rPr lang="en-US" sz="1800" b="0" u="none" strike="noStrike" dirty="0">
                <a:effectLst/>
                <a:latin typeface="+mn-lt"/>
              </a:rPr>
              <a:t>α γρήγορο </a:t>
            </a:r>
            <a:r>
              <a:rPr lang="en-US" sz="1800" b="1" u="none" strike="noStrike" dirty="0">
                <a:effectLst/>
                <a:latin typeface="+mn-lt"/>
              </a:rPr>
              <a:t>Restart</a:t>
            </a:r>
            <a:r>
              <a:rPr lang="en-US" sz="1800" b="0" u="none" strike="noStrike" dirty="0">
                <a:effectLst/>
                <a:latin typeface="+mn-lt"/>
              </a:rPr>
              <a:t> (επανεκκίνηση). </a:t>
            </a:r>
            <a:r>
              <a:rPr lang="en-US" sz="1800" b="0" u="none" strike="noStrike" dirty="0" err="1">
                <a:effectLst/>
                <a:latin typeface="+mn-lt"/>
              </a:rPr>
              <a:t>Πάτ</a:t>
            </a:r>
            <a:r>
              <a:rPr lang="en-US" sz="1800" b="0" u="none" strike="noStrike" dirty="0">
                <a:effectLst/>
                <a:latin typeface="+mn-lt"/>
              </a:rPr>
              <a:t>α </a:t>
            </a:r>
            <a:r>
              <a:rPr lang="en-US" sz="1800" b="0" i="1" u="none" strike="noStrike" dirty="0">
                <a:effectLst/>
                <a:latin typeface="+mn-lt"/>
              </a:rPr>
              <a:t>Apply/Yes</a:t>
            </a:r>
            <a:r>
              <a:rPr lang="en-US" sz="1800" b="0" u="none" strike="noStrike" dirty="0">
                <a:effectLst/>
                <a:latin typeface="+mn-lt"/>
              </a:rPr>
              <a:t>.</a:t>
            </a:r>
            <a:endParaRPr lang="en-US" sz="1200" b="0" u="none" strike="noStrike" dirty="0">
              <a:effectLst/>
              <a:latin typeface="Google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C4B80-F181-A7EF-BA61-99577537C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412" y="1336145"/>
            <a:ext cx="6569009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860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FBAEDF-4ED7-42CD-7197-655E78B4B82A}"/>
              </a:ext>
            </a:extLst>
          </p:cNvPr>
          <p:cNvSpPr txBox="1"/>
          <p:nvPr/>
        </p:nvSpPr>
        <p:spPr>
          <a:xfrm>
            <a:off x="541421" y="152160"/>
            <a:ext cx="10118557" cy="6901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using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UnityEngine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  <a:br>
              <a:rPr lang="en-US" sz="1800" b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public class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ScreenWrapper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: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MonoBehaviour</a:t>
            </a: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{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//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Μετ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αβλητές για την κάμερα και τις διαστάσεις της οθόνης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private Camera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mainCamera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private float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screenWidth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private float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screenHeight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  <a:br>
              <a:rPr lang="en-US" sz="1800" b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//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Μετ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αβλητές για το μισό μέγεθος του ίδιου του Sprite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private float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objectWidth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private float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objectHeight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</a:p>
          <a:p>
            <a:pPr>
              <a:lnSpc>
                <a:spcPct val="100000"/>
              </a:lnSpc>
              <a:buNone/>
            </a:pPr>
            <a:br>
              <a:rPr lang="en-US" sz="1800" b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void Start()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{</a:t>
            </a:r>
            <a:endParaRPr lang="el-G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l-GR" dirty="0"/>
              <a:t>          +++++</a:t>
            </a: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}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void Update()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{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</a:t>
            </a:r>
            <a:r>
              <a:rPr lang="el-GR" sz="1800" b="0" dirty="0">
                <a:solidFill>
                  <a:schemeClr val="tx1"/>
                </a:solidFill>
                <a:effectLst/>
                <a:latin typeface="+mn-lt"/>
              </a:rPr>
              <a:t>++++++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}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}</a:t>
            </a:r>
          </a:p>
          <a:p>
            <a:pPr>
              <a:lnSpc>
                <a:spcPct val="100000"/>
              </a:lnSpc>
              <a:buNone/>
            </a:pPr>
            <a:br>
              <a:rPr lang="en-US" sz="1800" b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958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A07BBE-47E1-B55E-7C0F-EC2478AC2614}"/>
              </a:ext>
            </a:extLst>
          </p:cNvPr>
          <p:cNvSpPr txBox="1"/>
          <p:nvPr/>
        </p:nvSpPr>
        <p:spPr>
          <a:xfrm>
            <a:off x="204536" y="-81320"/>
            <a:ext cx="11478127" cy="745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void Start()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{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// 1.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Βρίσκουμε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την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κύρι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 κάμερα της σκηνής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mainCamera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Camera.main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// 2. Υπ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ολογίζουμε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το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συνολικό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ΥΨΟΣ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της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οθόνης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σε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Unity Units.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//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Το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orthographicSize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είν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αι η απόσταση από το κέντρο μέχρι την πάνω άκρη, οπότε το πολλαπλασιάζουμε x 2.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screenHeight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= 2f *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mainCamera.orthographicSize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  <a:br>
              <a:rPr lang="en-US" sz="1800" b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// 3. Υπ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ολογίζουμε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το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συνολικό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ΠΛΑΤΟΣ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της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οθόνης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//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Πολλ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απλασιάζουμε το ύψος με το aspect ratio (αναλογία οθόνης, π.χ. 16:9).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screenWidth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screenHeight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*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mainCamera.aspect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  <a:br>
              <a:rPr lang="en-US" sz="1800" b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// 4. Πα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ίρνουμε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το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SpriteRenderer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του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α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ντικειμένου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γι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 να δούμε πόσο μεγάλο είναι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SpriteRenderer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spriteRenderer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GetComponent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&lt;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SpriteRenderer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&gt;();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if (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spriteRenderer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!= null)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{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    // Πα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ίρνουμε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το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συνολικό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π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λάτος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και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ύψος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του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Sprite και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το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δι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αιρούμε δια 2.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    //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Θέλουμε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το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ΜΙΣΟ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μέγεθος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(από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το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κέντρο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του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πα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ίκτη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μέχρι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την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άκρη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του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σώμ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ατός του).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objectWidth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spriteRenderer.bounds.size.x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/ 2f;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objectHeight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spriteRenderer.bounds.size.y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/ 2f;</a:t>
            </a:r>
            <a:endParaRPr lang="el-GR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}</a:t>
            </a:r>
            <a:br>
              <a:rPr lang="en-US" sz="1800" b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//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Εμφ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ανίζουμε τις διαστάσεις της οθόνης στην κονσόλα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   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Debug.Log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("[SCREEN INFO]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Ypsos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: " +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screenHeight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 + " |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Platos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: " + </a:t>
            </a:r>
            <a:r>
              <a:rPr lang="en-US" sz="1800" b="0" dirty="0" err="1">
                <a:solidFill>
                  <a:schemeClr val="tx1"/>
                </a:solidFill>
                <a:effectLst/>
                <a:latin typeface="+mn-lt"/>
              </a:rPr>
              <a:t>screenWidth</a:t>
            </a: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);</a:t>
            </a:r>
          </a:p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    }</a:t>
            </a:r>
          </a:p>
          <a:p>
            <a:pPr>
              <a:lnSpc>
                <a:spcPct val="100000"/>
              </a:lnSpc>
              <a:buNone/>
            </a:pPr>
            <a:br>
              <a:rPr lang="en-US" sz="1800" b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372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DEAB37-C70F-7A53-4320-C40255E8073C}"/>
              </a:ext>
            </a:extLst>
          </p:cNvPr>
          <p:cNvSpPr txBox="1"/>
          <p:nvPr/>
        </p:nvSpPr>
        <p:spPr>
          <a:xfrm>
            <a:off x="348916" y="151179"/>
            <a:ext cx="1227221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void Update()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{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// Απ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οθηκεύουμε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την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τρέχουσ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α θέση του παίκτη σε μια προσωρινή μεταβλητή (pos)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Vector3 pos =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transform.position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  <a:br>
              <a:rPr lang="en-US" sz="1000" b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//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Εμφ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ανίζουμε τη θέση του παίκτη σε κάθε frame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Debug.Log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("[PLAYER POS] X: " +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pos.x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+ " | Y: " +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pos.y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);</a:t>
            </a:r>
            <a:br>
              <a:rPr lang="en-US" sz="1000" b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  float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leftBound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mainCamera.transform.position.x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- (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screenWidth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/ 2f) -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objectWidth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;   //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Αριστερή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άκρη</a:t>
            </a: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float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rightBound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mainCamera.transform.position.x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+ (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screenWidth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/ 2f) +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objectWidth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; //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Δεξιά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άκρη</a:t>
            </a: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float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bottomBound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mainCamera.transform.position.y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- (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screenHeight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/ 2f) -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objectHeight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; //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Κάτω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άκρη</a:t>
            </a: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float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topBound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mainCamera.transform.position.y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+ (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screenHeight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/ 2f) +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objectHeight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;    //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Πάνω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άκ</a:t>
            </a:r>
            <a:br>
              <a:rPr lang="en-US" sz="1000" b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// ΕΛΕΓΧΟΣ X: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Αν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ο πα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ίκτης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π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ήγε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π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ιο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δεξιά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από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το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δεξί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όριο</a:t>
            </a: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if (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pos.x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&gt;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rightBound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{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Debug.LogWarning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("[SCREEN WRAP] O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paiktis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vgike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DEXIA!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Tilemetafora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Aristera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.");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pos.x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leftBound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; //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Τον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στέλνουμε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στο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α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ριστερό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όριο</a:t>
            </a: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}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// ΕΛΕΓΧΟΣ X: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Αν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ο πα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ίκτης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π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ήγε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π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ιο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α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ριστερά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από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το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α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ριστερό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όριο</a:t>
            </a: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else if (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pos.x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&lt;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leftBound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{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Debug.LogWarning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("[SCREEN WRAP] O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paiktis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vgike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ARISTERA!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Tilemetafora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Dexia.");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pos.x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rightBound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; //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Τον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στέλνουμε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στο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δεξί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όριο</a:t>
            </a: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}</a:t>
            </a:r>
            <a:br>
              <a:rPr lang="en-US" sz="1000" b="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// ΕΛΕΓΧΟΣ Y: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Αν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ο πα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ίκτης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π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ήγε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π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ιο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π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άνω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από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το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π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άνω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όριο</a:t>
            </a: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if (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pos.y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&gt;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topBound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{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Debug.LogWarning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("[SCREEN WRAP] O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paiktis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vgike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PANO!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Tilemetafora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Kato.");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pos.y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bottomBound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; //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Τον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στέλνουμε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στο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κάτω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όριο</a:t>
            </a: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}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// ΕΛΕΓΧΟΣ Y: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Αν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ο πα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ίκτης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π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ήγε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π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ιο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κάτω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από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το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κάτω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όριο</a:t>
            </a: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else if (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pos.y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&lt;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bottomBound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{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Debug.LogWarning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("[SCREEN WRAP] O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paiktis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vgike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KATO!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Tilemetafora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Pano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.");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   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pos.y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topBound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; //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Τον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στέλνουμε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στο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π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άνω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όριο</a:t>
            </a:r>
            <a:endParaRPr lang="en-US" sz="10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}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//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Εφ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αρμόζουμε τη νέα, τροποποιημένη θέση πίσω στο αντικείμενο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    </a:t>
            </a:r>
            <a:r>
              <a:rPr lang="en-US" sz="1000" b="0" dirty="0" err="1">
                <a:solidFill>
                  <a:schemeClr val="tx1"/>
                </a:solidFill>
                <a:effectLst/>
                <a:latin typeface="+mn-lt"/>
              </a:rPr>
              <a:t>transform.position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 = pos;</a:t>
            </a:r>
          </a:p>
          <a:p>
            <a:pPr>
              <a:lnSpc>
                <a:spcPct val="100000"/>
              </a:lnSpc>
              <a:buNone/>
            </a:pP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    }</a:t>
            </a:r>
            <a:endParaRPr lang="en-US" sz="1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547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0" y="3059906"/>
            <a:ext cx="5867400" cy="1271438"/>
          </a:xfrm>
          <a:prstGeom prst="roundRect">
            <a:avLst>
              <a:gd name="adj" fmla="val 599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6240819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Άσκηση 2: Κουμπί UI &amp; Τυχαίο Χρώμα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53675" y="552450"/>
            <a:ext cx="1535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UI BUTTON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941439"/>
            <a:ext cx="63007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Βήματα στο Editor: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0" y="3212306"/>
            <a:ext cx="5581650" cy="966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8BDF8"/>
                </a:solidFill>
                <a:latin typeface="JetBrains Mono"/>
              </a:rPr>
              <a:t>public class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sz="1050" b="0" i="0" u="none">
                <a:solidFill>
                  <a:srgbClr val="FDE047"/>
                </a:solidFill>
                <a:latin typeface="JetBrains Mono"/>
              </a:rPr>
              <a:t>ColorChanger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: </a:t>
            </a:r>
            <a:r>
              <a:rPr sz="1050" b="0" i="0" u="none">
                <a:solidFill>
                  <a:srgbClr val="4ADE80"/>
                </a:solidFill>
                <a:latin typeface="JetBrains Mono"/>
              </a:rPr>
              <a:t>MonoBehaviour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{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private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SpriteRenderer sr;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void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sz="1050" b="0" i="0" u="none">
                <a:solidFill>
                  <a:srgbClr val="60A5FA"/>
                </a:solidFill>
                <a:latin typeface="JetBrains Mono"/>
              </a:rPr>
              <a:t>Start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() =&gt; sr = GetComponent(); </a:t>
            </a:r>
            <a:r>
              <a:rPr sz="1050" b="0" i="0" u="none">
                <a:solidFill>
                  <a:srgbClr val="94A3B8"/>
                </a:solidFill>
                <a:latin typeface="JetBrains Mono"/>
              </a:rPr>
              <a:t>// Καλείται από το OnClick του κουμπιού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public void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sz="1050" b="0" i="0" u="none">
                <a:solidFill>
                  <a:srgbClr val="60A5FA"/>
                </a:solidFill>
                <a:latin typeface="JetBrains Mono"/>
              </a:rPr>
              <a:t>ChangeToRandomColor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() { sr.color =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new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Color(Random.value, Random.value, Random.value); }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3282434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284339"/>
            <a:ext cx="576262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Στόχος: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Δημιουργία κύκλου `TargetCircle`.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3526214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528119"/>
            <a:ext cx="576262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Κουμπί: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Προσθήκη UI &gt; Button (TextMeshPro).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3769995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771900"/>
            <a:ext cx="576262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Script: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Προσθήκη `ColorChanger.cs` στον κύκλο.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4013775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015680"/>
            <a:ext cx="576262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Inspector: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Σύνδεση μεθόδου στο πεδίο `OnClick()`.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C3F432-79F2-6366-5527-F30E008C1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03" y="1280160"/>
            <a:ext cx="11420194" cy="379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067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954E01-A6F7-A372-2849-1DDF46CB15D4}"/>
              </a:ext>
            </a:extLst>
          </p:cNvPr>
          <p:cNvSpPr txBox="1"/>
          <p:nvPr/>
        </p:nvSpPr>
        <p:spPr>
          <a:xfrm>
            <a:off x="3046997" y="474345"/>
            <a:ext cx="609399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using </a:t>
            </a:r>
            <a:r>
              <a:rPr lang="en-US" dirty="0" err="1"/>
              <a:t>UnityEngine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ColorChanger</a:t>
            </a:r>
            <a:r>
              <a:rPr lang="en-US" dirty="0"/>
              <a:t> : </a:t>
            </a:r>
            <a:r>
              <a:rPr lang="en-US" dirty="0" err="1"/>
              <a:t>MonoBehaviour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private </a:t>
            </a:r>
            <a:r>
              <a:rPr lang="en-US" dirty="0" err="1"/>
              <a:t>SpriteRenderer</a:t>
            </a:r>
            <a:r>
              <a:rPr lang="en-US" dirty="0"/>
              <a:t> </a:t>
            </a:r>
            <a:r>
              <a:rPr lang="en-US" dirty="0" err="1"/>
              <a:t>spriteRenderer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void Start()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// </a:t>
            </a:r>
            <a:r>
              <a:rPr lang="en-US" dirty="0" err="1"/>
              <a:t>Αν</a:t>
            </a:r>
            <a:r>
              <a:rPr lang="en-US" dirty="0"/>
              <a:t>αφορά στο SpriteRenderer του ίδιου αντικειμένου</a:t>
            </a:r>
          </a:p>
          <a:p>
            <a:r>
              <a:rPr lang="en-US" dirty="0"/>
              <a:t>        </a:t>
            </a:r>
            <a:r>
              <a:rPr lang="en-US" dirty="0" err="1"/>
              <a:t>spriteRenderer</a:t>
            </a:r>
            <a:r>
              <a:rPr lang="en-US" dirty="0"/>
              <a:t> = </a:t>
            </a:r>
            <a:r>
              <a:rPr lang="en-US" dirty="0" err="1"/>
              <a:t>GetComponent</a:t>
            </a:r>
            <a:r>
              <a:rPr lang="en-US" dirty="0"/>
              <a:t>&lt;</a:t>
            </a:r>
            <a:r>
              <a:rPr lang="en-US" dirty="0" err="1"/>
              <a:t>SpriteRenderer</a:t>
            </a:r>
            <a:r>
              <a:rPr lang="en-US" dirty="0"/>
              <a:t>&gt;();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</a:t>
            </a:r>
            <a:r>
              <a:rPr lang="en-US" dirty="0" err="1"/>
              <a:t>Δημόσι</a:t>
            </a:r>
            <a:r>
              <a:rPr lang="en-US" dirty="0"/>
              <a:t>α μέθοδος για να είναι ορατή στο OnClick του UI Button</a:t>
            </a:r>
          </a:p>
          <a:p>
            <a:r>
              <a:rPr lang="en-US" dirty="0"/>
              <a:t>    public void </a:t>
            </a:r>
            <a:r>
              <a:rPr lang="en-US" dirty="0" err="1"/>
              <a:t>ChangeToRandomColor</a:t>
            </a:r>
            <a:r>
              <a:rPr lang="en-US" dirty="0"/>
              <a:t>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Color </a:t>
            </a:r>
            <a:r>
              <a:rPr lang="en-US" dirty="0" err="1"/>
              <a:t>randomColor</a:t>
            </a:r>
            <a:r>
              <a:rPr lang="en-US" dirty="0"/>
              <a:t> = new Color(</a:t>
            </a:r>
            <a:r>
              <a:rPr lang="en-US" dirty="0" err="1"/>
              <a:t>Random.value</a:t>
            </a:r>
            <a:r>
              <a:rPr lang="en-US" dirty="0"/>
              <a:t>, </a:t>
            </a:r>
            <a:r>
              <a:rPr lang="en-US" dirty="0" err="1"/>
              <a:t>Random.value</a:t>
            </a:r>
            <a:r>
              <a:rPr lang="en-US" dirty="0"/>
              <a:t>, </a:t>
            </a:r>
            <a:r>
              <a:rPr lang="en-US" dirty="0" err="1"/>
              <a:t>Random.value</a:t>
            </a:r>
            <a:r>
              <a:rPr lang="en-US" dirty="0"/>
              <a:t>, 1f);</a:t>
            </a:r>
          </a:p>
          <a:p>
            <a:r>
              <a:rPr lang="en-US" dirty="0"/>
              <a:t>        </a:t>
            </a:r>
            <a:r>
              <a:rPr lang="en-US" dirty="0" err="1"/>
              <a:t>spriteRenderer.color</a:t>
            </a:r>
            <a:r>
              <a:rPr lang="en-US" dirty="0"/>
              <a:t> = </a:t>
            </a:r>
            <a:r>
              <a:rPr lang="en-US" dirty="0" err="1"/>
              <a:t>randomColor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66798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FF6F00-C27C-9F10-E853-7F09359E7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42" y="637674"/>
            <a:ext cx="10251536" cy="53420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DED794-B811-F268-B614-D2A90DFCE8CC}"/>
              </a:ext>
            </a:extLst>
          </p:cNvPr>
          <p:cNvSpPr txBox="1"/>
          <p:nvPr/>
        </p:nvSpPr>
        <p:spPr>
          <a:xfrm>
            <a:off x="5444860" y="111931"/>
            <a:ext cx="6557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Εναλλακτική αναζήτηση αντικειμένου κύκλου μέσα από το </a:t>
            </a:r>
            <a:r>
              <a:rPr lang="en-US" dirty="0"/>
              <a:t>Hierarch</a:t>
            </a:r>
          </a:p>
        </p:txBody>
      </p:sp>
    </p:spTree>
    <p:extLst>
      <p:ext uri="{BB962C8B-B14F-4D97-AF65-F5344CB8AC3E}">
        <p14:creationId xmlns:p14="http://schemas.microsoft.com/office/powerpoint/2010/main" val="1651129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5BF20-D4CA-4686-E912-22D152D07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7DBF4-347A-F477-0F6F-1233F4075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105" y="1907953"/>
            <a:ext cx="6496223" cy="3427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701487-7CBE-3774-1496-878E473E195D}"/>
              </a:ext>
            </a:extLst>
          </p:cNvPr>
          <p:cNvSpPr txBox="1"/>
          <p:nvPr/>
        </p:nvSpPr>
        <p:spPr>
          <a:xfrm>
            <a:off x="4186989" y="914400"/>
            <a:ext cx="4018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Button position </a:t>
            </a:r>
            <a:r>
              <a:rPr lang="el-GR" dirty="0"/>
              <a:t>για να μην πέφτει πάνω στον κύκλο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208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3573E0-61A5-A4FE-4EBE-DC4CCF804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06" y="456209"/>
            <a:ext cx="10116550" cy="2070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6A5682-ACC0-01CF-8438-8CF57975B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316" y="2947291"/>
            <a:ext cx="5827473" cy="336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18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4F40FB6-84A0-9EC1-ACD8-091B7C78AEA7}"/>
              </a:ext>
            </a:extLst>
          </p:cNvPr>
          <p:cNvGrpSpPr/>
          <p:nvPr/>
        </p:nvGrpSpPr>
        <p:grpSpPr>
          <a:xfrm>
            <a:off x="878304" y="426854"/>
            <a:ext cx="9855715" cy="6106293"/>
            <a:chOff x="1682496" y="921874"/>
            <a:chExt cx="7812271" cy="461634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485F00F-9A4F-FAA5-9458-063CFF545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82496" y="921874"/>
              <a:ext cx="7812271" cy="461634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F496324-5FF7-E33B-DC83-E9D898401790}"/>
                    </a:ext>
                  </a:extLst>
                </p14:cNvPr>
                <p14:cNvContentPartPr/>
                <p14:nvPr/>
              </p14:nvContentPartPr>
              <p14:xfrm>
                <a:off x="8865777" y="2823669"/>
                <a:ext cx="448200" cy="408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F496324-5FF7-E33B-DC83-E9D89840179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860924" y="2819042"/>
                  <a:ext cx="457906" cy="4174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A405BF6-6651-4A48-5FAC-D61721C1C2AC}"/>
                    </a:ext>
                  </a:extLst>
                </p14:cNvPr>
                <p14:cNvContentPartPr/>
                <p14:nvPr/>
              </p14:nvContentPartPr>
              <p14:xfrm>
                <a:off x="6630537" y="4441509"/>
                <a:ext cx="1956240" cy="388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A405BF6-6651-4A48-5FAC-D61721C1C2A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25400" y="4436878"/>
                  <a:ext cx="1965943" cy="3977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3DE80FB-DC58-312D-EBA0-8398EC2768C3}"/>
                    </a:ext>
                  </a:extLst>
                </p14:cNvPr>
                <p14:cNvContentPartPr/>
                <p14:nvPr/>
              </p14:nvContentPartPr>
              <p14:xfrm>
                <a:off x="3031617" y="3295989"/>
                <a:ext cx="2730960" cy="373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3DE80FB-DC58-312D-EBA0-8398EC2768C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26766" y="3291359"/>
                  <a:ext cx="2740662" cy="3829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4826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E20CB96-24B1-49BF-7522-FF4E2247F5FC}"/>
                  </a:ext>
                </a:extLst>
              </p14:cNvPr>
              <p14:cNvContentPartPr/>
              <p14:nvPr/>
            </p14:nvContentPartPr>
            <p14:xfrm>
              <a:off x="4595817" y="2634669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E20CB96-24B1-49BF-7522-FF4E2247F5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89697" y="262854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BEF2D0F-817A-C049-06CA-21708F2E4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504" y="433138"/>
            <a:ext cx="9311837" cy="574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76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A7EFC4-6A34-D8DB-5F2A-68AD91BDC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242" y="1907953"/>
            <a:ext cx="6496223" cy="3427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CCA039-1523-2DA5-5F3D-11011CE0199C}"/>
              </a:ext>
            </a:extLst>
          </p:cNvPr>
          <p:cNvSpPr txBox="1"/>
          <p:nvPr/>
        </p:nvSpPr>
        <p:spPr>
          <a:xfrm>
            <a:off x="4186989" y="914400"/>
            <a:ext cx="214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Button position</a:t>
            </a:r>
          </a:p>
        </p:txBody>
      </p:sp>
    </p:spTree>
    <p:extLst>
      <p:ext uri="{BB962C8B-B14F-4D97-AF65-F5344CB8AC3E}">
        <p14:creationId xmlns:p14="http://schemas.microsoft.com/office/powerpoint/2010/main" val="1315819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0" y="3059906"/>
            <a:ext cx="5867400" cy="1271438"/>
          </a:xfrm>
          <a:prstGeom prst="roundRect">
            <a:avLst>
              <a:gd name="adj" fmla="val 599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19100"/>
            <a:ext cx="7521447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Άσκηση 3: TextMeshPro &amp; Αλλαγή Χρώματος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82275" y="552450"/>
            <a:ext cx="1285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TEXT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941439"/>
            <a:ext cx="63007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Plus Jakarta Sans"/>
              </a:rPr>
              <a:t>Βήματα στο Editor: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0" y="3212306"/>
            <a:ext cx="5581650" cy="966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38BDF8"/>
                </a:solidFill>
                <a:latin typeface="JetBrains Mono"/>
              </a:rPr>
              <a:t>using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TMPro;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public class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sz="1050" b="0" i="0" u="none">
                <a:solidFill>
                  <a:srgbClr val="FDE047"/>
                </a:solidFill>
                <a:latin typeface="JetBrains Mono"/>
              </a:rPr>
              <a:t>TextController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: </a:t>
            </a:r>
            <a:r>
              <a:rPr sz="1050" b="0" i="0" u="none">
                <a:solidFill>
                  <a:srgbClr val="4ADE80"/>
                </a:solidFill>
                <a:latin typeface="JetBrains Mono"/>
              </a:rPr>
              <a:t>MonoBehaviour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{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private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TextMeshProUGUI txt;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void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sz="1050" b="0" i="0" u="none">
                <a:solidFill>
                  <a:srgbClr val="60A5FA"/>
                </a:solidFill>
                <a:latin typeface="JetBrains Mono"/>
              </a:rPr>
              <a:t>Start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() =&gt; txt = GetComponent();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void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sz="1050" b="0" i="0" u="none">
                <a:solidFill>
                  <a:srgbClr val="60A5FA"/>
                </a:solidFill>
                <a:latin typeface="JetBrains Mono"/>
              </a:rPr>
              <a:t>Update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() {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if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(Input.GetKeyDown(KeyCode.Space)) txt.text = </a:t>
            </a:r>
            <a:r>
              <a:rPr sz="1050" b="0" i="0" u="none">
                <a:solidFill>
                  <a:srgbClr val="A5F3FC"/>
                </a:solidFill>
                <a:latin typeface="JetBrains Mono"/>
              </a:rPr>
              <a:t>"Ενεργοποιήθηκε!"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; 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if</a:t>
            </a:r>
            <a:r>
              <a:rPr sz="1050" b="0" i="0" u="none">
                <a:solidFill>
                  <a:srgbClr val="E2E8F0"/>
                </a:solidFill>
                <a:latin typeface="JetBrains Mono"/>
              </a:rPr>
              <a:t> (Input.GetKeyDown(KeyCode.C)) txt.color = Color.yellow; }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3282434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284339"/>
            <a:ext cx="576262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UI Text: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Προσθήκη UI &gt; Text - TextMeshPro.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3526214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528119"/>
            <a:ext cx="576262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Namespace: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Χρήση της βιβλιοθήκης `using TMPro;`.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3769995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771900"/>
            <a:ext cx="576262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Space: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Ενεργοποιεί και εμφανίζει το κείμενο.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4013775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015680"/>
            <a:ext cx="576262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Πλήκτρο C: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Αλλάζει δυναμικά χρώμα σε κίτρινο.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D9B20C-606A-6EBD-7466-97BA74140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5" y="1741128"/>
            <a:ext cx="11301989" cy="337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714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F2FBA5-DC53-7671-35B4-45C944B46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856117"/>
            <a:ext cx="7124908" cy="514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752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80D5D1-9CC8-8F76-81EE-E3CF39D85703}"/>
              </a:ext>
            </a:extLst>
          </p:cNvPr>
          <p:cNvSpPr txBox="1"/>
          <p:nvPr/>
        </p:nvSpPr>
        <p:spPr>
          <a:xfrm>
            <a:off x="709863" y="243512"/>
            <a:ext cx="963729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using </a:t>
            </a:r>
            <a:r>
              <a:rPr lang="en-US" sz="1200" dirty="0" err="1"/>
              <a:t>UnityEngine</a:t>
            </a:r>
            <a:r>
              <a:rPr lang="en-US" sz="1200" dirty="0"/>
              <a:t>;</a:t>
            </a:r>
          </a:p>
          <a:p>
            <a:r>
              <a:rPr lang="en-US" sz="1200" dirty="0"/>
              <a:t>using </a:t>
            </a:r>
            <a:r>
              <a:rPr lang="en-US" sz="1200" dirty="0" err="1"/>
              <a:t>TMPro</a:t>
            </a:r>
            <a:r>
              <a:rPr lang="en-US" sz="1200" dirty="0"/>
              <a:t>; // Απαρα</a:t>
            </a:r>
            <a:r>
              <a:rPr lang="en-US" sz="1200" dirty="0" err="1"/>
              <a:t>ίτητο</a:t>
            </a:r>
            <a:r>
              <a:rPr lang="en-US" sz="1200" dirty="0"/>
              <a:t> namespace </a:t>
            </a:r>
            <a:r>
              <a:rPr lang="en-US" sz="1200" dirty="0" err="1"/>
              <a:t>γι</a:t>
            </a:r>
            <a:r>
              <a:rPr lang="en-US" sz="1200" dirty="0"/>
              <a:t>α TextMeshPro</a:t>
            </a:r>
          </a:p>
          <a:p>
            <a:endParaRPr lang="en-US" sz="1200" dirty="0"/>
          </a:p>
          <a:p>
            <a:r>
              <a:rPr lang="en-US" sz="1200" dirty="0"/>
              <a:t>public class </a:t>
            </a:r>
            <a:r>
              <a:rPr lang="en-US" sz="1200" dirty="0" err="1"/>
              <a:t>TextController</a:t>
            </a:r>
            <a:r>
              <a:rPr lang="en-US" sz="1200" dirty="0"/>
              <a:t> : </a:t>
            </a:r>
            <a:r>
              <a:rPr lang="en-US" sz="1200" dirty="0" err="1"/>
              <a:t>MonoBehaviour</a:t>
            </a:r>
            <a:endParaRPr lang="en-US" sz="1200" dirty="0"/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  private </a:t>
            </a:r>
            <a:r>
              <a:rPr lang="en-US" sz="1200" dirty="0" err="1"/>
              <a:t>TextMeshProUGUI</a:t>
            </a:r>
            <a:r>
              <a:rPr lang="en-US" sz="1200" dirty="0"/>
              <a:t> </a:t>
            </a:r>
            <a:r>
              <a:rPr lang="en-US" sz="1200" dirty="0" err="1"/>
              <a:t>textComponent</a:t>
            </a:r>
            <a:r>
              <a:rPr lang="en-US" sz="1200" dirty="0"/>
              <a:t>;</a:t>
            </a:r>
          </a:p>
          <a:p>
            <a:r>
              <a:rPr lang="en-US" sz="1200" dirty="0"/>
              <a:t>    private bool </a:t>
            </a:r>
            <a:r>
              <a:rPr lang="en-US" sz="1200" dirty="0" err="1"/>
              <a:t>isVisible</a:t>
            </a:r>
            <a:r>
              <a:rPr lang="en-US" sz="1200" dirty="0"/>
              <a:t> = false;</a:t>
            </a:r>
          </a:p>
          <a:p>
            <a:endParaRPr lang="en-US" sz="1200" dirty="0"/>
          </a:p>
          <a:p>
            <a:r>
              <a:rPr lang="en-US" sz="1200" dirty="0"/>
              <a:t>    void Start()</a:t>
            </a:r>
          </a:p>
          <a:p>
            <a:r>
              <a:rPr lang="en-US" sz="1200" dirty="0"/>
              <a:t>    {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textComponent</a:t>
            </a:r>
            <a:r>
              <a:rPr lang="en-US" sz="1200" dirty="0"/>
              <a:t> = </a:t>
            </a:r>
            <a:r>
              <a:rPr lang="en-US" sz="1200" dirty="0" err="1"/>
              <a:t>GetComponent</a:t>
            </a:r>
            <a:r>
              <a:rPr lang="en-US" sz="1200" dirty="0"/>
              <a:t>&lt;</a:t>
            </a:r>
            <a:r>
              <a:rPr lang="en-US" sz="1200" dirty="0" err="1"/>
              <a:t>TextMeshProUGUI</a:t>
            </a:r>
            <a:r>
              <a:rPr lang="en-US" sz="1200" dirty="0"/>
              <a:t>&gt;();</a:t>
            </a:r>
          </a:p>
          <a:p>
            <a:r>
              <a:rPr lang="en-US" sz="1200" dirty="0"/>
              <a:t>        // Απ</a:t>
            </a:r>
            <a:r>
              <a:rPr lang="en-US" sz="1200" dirty="0" err="1"/>
              <a:t>όκρυψη</a:t>
            </a:r>
            <a:r>
              <a:rPr lang="en-US" sz="1200" dirty="0"/>
              <a:t> </a:t>
            </a:r>
            <a:r>
              <a:rPr lang="en-US" sz="1200" dirty="0" err="1"/>
              <a:t>στην</a:t>
            </a:r>
            <a:r>
              <a:rPr lang="en-US" sz="1200" dirty="0"/>
              <a:t> α</a:t>
            </a:r>
            <a:r>
              <a:rPr lang="en-US" sz="1200" dirty="0" err="1"/>
              <a:t>ρχή</a:t>
            </a:r>
            <a:endParaRPr lang="en-US" sz="1200" dirty="0"/>
          </a:p>
          <a:p>
            <a:r>
              <a:rPr lang="en-US" sz="1200" dirty="0"/>
              <a:t>        </a:t>
            </a:r>
            <a:r>
              <a:rPr lang="en-US" sz="1200" dirty="0" err="1"/>
              <a:t>textComponent.enabled</a:t>
            </a:r>
            <a:r>
              <a:rPr lang="en-US" sz="1200" dirty="0"/>
              <a:t> = false;</a:t>
            </a:r>
          </a:p>
          <a:p>
            <a:r>
              <a:rPr lang="en-US" sz="1200" dirty="0"/>
              <a:t>    }</a:t>
            </a:r>
          </a:p>
          <a:p>
            <a:endParaRPr lang="en-US" sz="1200" dirty="0"/>
          </a:p>
          <a:p>
            <a:r>
              <a:rPr lang="en-US" sz="1200" dirty="0"/>
              <a:t>    void Update()</a:t>
            </a:r>
          </a:p>
          <a:p>
            <a:r>
              <a:rPr lang="en-US" sz="1200" dirty="0"/>
              <a:t>    {</a:t>
            </a:r>
          </a:p>
          <a:p>
            <a:r>
              <a:rPr lang="en-US" sz="1200" dirty="0"/>
              <a:t>        // </a:t>
            </a:r>
            <a:r>
              <a:rPr lang="en-US" sz="1200" dirty="0" err="1"/>
              <a:t>Με</a:t>
            </a:r>
            <a:r>
              <a:rPr lang="en-US" sz="1200" dirty="0"/>
              <a:t> </a:t>
            </a:r>
            <a:r>
              <a:rPr lang="en-US" sz="1200" dirty="0" err="1"/>
              <a:t>το</a:t>
            </a:r>
            <a:r>
              <a:rPr lang="en-US" sz="1200" dirty="0"/>
              <a:t> π</a:t>
            </a:r>
            <a:r>
              <a:rPr lang="en-US" sz="1200" dirty="0" err="1"/>
              <a:t>άτημ</a:t>
            </a:r>
            <a:r>
              <a:rPr lang="en-US" sz="1200" dirty="0"/>
              <a:t>α του Space εμφανίζεται το κείμενο</a:t>
            </a:r>
          </a:p>
          <a:p>
            <a:r>
              <a:rPr lang="en-US" sz="1200" dirty="0"/>
              <a:t>        if (</a:t>
            </a:r>
            <a:r>
              <a:rPr lang="en-US" sz="1200" dirty="0" err="1"/>
              <a:t>Input.GetKeyDown</a:t>
            </a:r>
            <a:r>
              <a:rPr lang="en-US" sz="1200" dirty="0"/>
              <a:t>(</a:t>
            </a:r>
            <a:r>
              <a:rPr lang="en-US" sz="1200" dirty="0" err="1"/>
              <a:t>KeyCode.Space</a:t>
            </a:r>
            <a:r>
              <a:rPr lang="en-US" sz="1200" dirty="0"/>
              <a:t>))</a:t>
            </a:r>
          </a:p>
          <a:p>
            <a:r>
              <a:rPr lang="en-US" sz="1200" dirty="0"/>
              <a:t>        {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isVisible</a:t>
            </a:r>
            <a:r>
              <a:rPr lang="en-US" sz="1200" dirty="0"/>
              <a:t> = true;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textComponent.enabled</a:t>
            </a:r>
            <a:r>
              <a:rPr lang="en-US" sz="1200" dirty="0"/>
              <a:t> = true;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textComponent.text</a:t>
            </a:r>
            <a:r>
              <a:rPr lang="en-US" sz="1200" dirty="0"/>
              <a:t> = "</a:t>
            </a:r>
            <a:r>
              <a:rPr lang="en-US" sz="1200" dirty="0" err="1"/>
              <a:t>Το</a:t>
            </a:r>
            <a:r>
              <a:rPr lang="en-US" sz="1200" dirty="0"/>
              <a:t> </a:t>
            </a:r>
            <a:r>
              <a:rPr lang="en-US" sz="1200" dirty="0" err="1"/>
              <a:t>μήνυμ</a:t>
            </a:r>
            <a:r>
              <a:rPr lang="en-US" sz="1200" dirty="0"/>
              <a:t>α ενεργοποιήθηκε!";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textComponent.color</a:t>
            </a:r>
            <a:r>
              <a:rPr lang="en-US" sz="1200" dirty="0"/>
              <a:t> = </a:t>
            </a:r>
            <a:r>
              <a:rPr lang="en-US" sz="1200" dirty="0" err="1"/>
              <a:t>Color.white</a:t>
            </a:r>
            <a:r>
              <a:rPr lang="en-US" sz="1200" dirty="0"/>
              <a:t>;</a:t>
            </a:r>
          </a:p>
          <a:p>
            <a:r>
              <a:rPr lang="en-US" sz="1200" dirty="0"/>
              <a:t>        }</a:t>
            </a:r>
          </a:p>
          <a:p>
            <a:endParaRPr lang="en-US" sz="1200" dirty="0"/>
          </a:p>
          <a:p>
            <a:r>
              <a:rPr lang="en-US" sz="1200" dirty="0"/>
              <a:t>        // </a:t>
            </a:r>
            <a:r>
              <a:rPr lang="en-US" sz="1200" dirty="0" err="1"/>
              <a:t>Με</a:t>
            </a:r>
            <a:r>
              <a:rPr lang="en-US" sz="1200" dirty="0"/>
              <a:t> </a:t>
            </a:r>
            <a:r>
              <a:rPr lang="en-US" sz="1200" dirty="0" err="1"/>
              <a:t>το</a:t>
            </a:r>
            <a:r>
              <a:rPr lang="en-US" sz="1200" dirty="0"/>
              <a:t> π</a:t>
            </a:r>
            <a:r>
              <a:rPr lang="en-US" sz="1200" dirty="0" err="1"/>
              <a:t>άτημ</a:t>
            </a:r>
            <a:r>
              <a:rPr lang="en-US" sz="1200" dirty="0"/>
              <a:t>α του C αλλάζει χρώμα και περιεχόμενο (μόνο αν είναι ορατό)</a:t>
            </a:r>
          </a:p>
          <a:p>
            <a:r>
              <a:rPr lang="en-US" sz="1200" dirty="0"/>
              <a:t>        if (</a:t>
            </a:r>
            <a:r>
              <a:rPr lang="en-US" sz="1200" dirty="0" err="1"/>
              <a:t>isVisible</a:t>
            </a:r>
            <a:r>
              <a:rPr lang="en-US" sz="1200" dirty="0"/>
              <a:t> &amp;&amp; </a:t>
            </a:r>
            <a:r>
              <a:rPr lang="en-US" sz="1200" dirty="0" err="1"/>
              <a:t>Input.GetKeyDown</a:t>
            </a:r>
            <a:r>
              <a:rPr lang="en-US" sz="1200" dirty="0"/>
              <a:t>(</a:t>
            </a:r>
            <a:r>
              <a:rPr lang="en-US" sz="1200" dirty="0" err="1"/>
              <a:t>KeyCode.C</a:t>
            </a:r>
            <a:r>
              <a:rPr lang="en-US" sz="1200" dirty="0"/>
              <a:t>))</a:t>
            </a:r>
          </a:p>
          <a:p>
            <a:r>
              <a:rPr lang="en-US" sz="1200" dirty="0"/>
              <a:t>        {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textComponent.text</a:t>
            </a:r>
            <a:r>
              <a:rPr lang="en-US" sz="1200" dirty="0"/>
              <a:t> = "</a:t>
            </a:r>
            <a:r>
              <a:rPr lang="en-US" sz="1200" dirty="0" err="1"/>
              <a:t>Το</a:t>
            </a:r>
            <a:r>
              <a:rPr lang="en-US" sz="1200" dirty="0"/>
              <a:t> </a:t>
            </a:r>
            <a:r>
              <a:rPr lang="en-US" sz="1200" dirty="0" err="1"/>
              <a:t>χρώμ</a:t>
            </a:r>
            <a:r>
              <a:rPr lang="en-US" sz="1200" dirty="0"/>
              <a:t>α άλλαξε σε Κίτρινο!";</a:t>
            </a:r>
          </a:p>
          <a:p>
            <a:r>
              <a:rPr lang="en-US" sz="1200" dirty="0"/>
              <a:t>            </a:t>
            </a:r>
            <a:r>
              <a:rPr lang="en-US" sz="1200" dirty="0" err="1"/>
              <a:t>textComponent.color</a:t>
            </a:r>
            <a:r>
              <a:rPr lang="en-US" sz="1200" dirty="0"/>
              <a:t> = </a:t>
            </a:r>
            <a:r>
              <a:rPr lang="en-US" sz="1200" dirty="0" err="1"/>
              <a:t>Color.yellow</a:t>
            </a:r>
            <a:r>
              <a:rPr lang="en-US" sz="1200" dirty="0"/>
              <a:t>;</a:t>
            </a:r>
          </a:p>
          <a:p>
            <a:r>
              <a:rPr lang="en-US" sz="1200" dirty="0"/>
              <a:t>        }</a:t>
            </a:r>
          </a:p>
          <a:p>
            <a:r>
              <a:rPr lang="en-US" sz="1200" dirty="0"/>
              <a:t>    }</a:t>
            </a:r>
          </a:p>
          <a:p>
            <a:r>
              <a:rPr 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9926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92999-A1E8-F0AE-CBB1-903472370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C43B2C-ECEC-4683-F931-5D805573801F}"/>
              </a:ext>
            </a:extLst>
          </p:cNvPr>
          <p:cNvSpPr txBox="1"/>
          <p:nvPr/>
        </p:nvSpPr>
        <p:spPr>
          <a:xfrm>
            <a:off x="565483" y="2782760"/>
            <a:ext cx="10503569" cy="345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1800" b="0" u="none" strike="noStrike" dirty="0">
                <a:effectLst/>
                <a:latin typeface="+mn-lt"/>
              </a:rPr>
              <a:t>Μπ</a:t>
            </a:r>
            <a:r>
              <a:rPr lang="en-US" sz="1800" b="0" u="none" strike="noStrike" dirty="0" err="1">
                <a:effectLst/>
                <a:latin typeface="+mn-lt"/>
              </a:rPr>
              <a:t>ορείς</a:t>
            </a:r>
            <a:r>
              <a:rPr lang="en-US" sz="1800" b="0" u="none" strike="noStrike" dirty="0">
                <a:effectLst/>
                <a:latin typeface="+mn-lt"/>
              </a:rPr>
              <a:t> να π</a:t>
            </a:r>
            <a:r>
              <a:rPr lang="en-US" sz="1800" b="0" u="none" strike="noStrike" dirty="0" err="1">
                <a:effectLst/>
                <a:latin typeface="+mn-lt"/>
              </a:rPr>
              <a:t>εις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στη</a:t>
            </a:r>
            <a:r>
              <a:rPr lang="en-US" sz="1800" b="0" u="none" strike="noStrike" dirty="0">
                <a:effectLst/>
                <a:latin typeface="+mn-lt"/>
              </a:rPr>
              <a:t> Unity να </a:t>
            </a:r>
            <a:r>
              <a:rPr lang="en-US" sz="1800" b="0" u="none" strike="noStrike" dirty="0" err="1">
                <a:effectLst/>
                <a:latin typeface="+mn-lt"/>
              </a:rPr>
              <a:t>δέχετ</a:t>
            </a:r>
            <a:r>
              <a:rPr lang="en-US" sz="1800" b="0" u="none" strike="noStrike" dirty="0">
                <a:effectLst/>
                <a:latin typeface="+mn-lt"/>
              </a:rPr>
              <a:t>αι και το παλιό και το νέο σύστημα εισόδου: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1800" b="0" u="none" strike="noStrike" dirty="0" err="1">
                <a:effectLst/>
                <a:latin typeface="+mn-lt"/>
              </a:rPr>
              <a:t>Στο</a:t>
            </a:r>
            <a:r>
              <a:rPr lang="en-US" sz="1800" b="0" u="none" strike="noStrike" dirty="0">
                <a:effectLst/>
                <a:latin typeface="+mn-lt"/>
              </a:rPr>
              <a:t> π</a:t>
            </a:r>
            <a:r>
              <a:rPr lang="en-US" sz="1800" b="0" u="none" strike="noStrike" dirty="0" err="1">
                <a:effectLst/>
                <a:latin typeface="+mn-lt"/>
              </a:rPr>
              <a:t>άνω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μενού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της</a:t>
            </a:r>
            <a:r>
              <a:rPr lang="en-US" sz="1800" b="0" u="none" strike="noStrike" dirty="0">
                <a:effectLst/>
                <a:latin typeface="+mn-lt"/>
              </a:rPr>
              <a:t> Unity, π</a:t>
            </a:r>
            <a:r>
              <a:rPr lang="en-US" sz="1800" b="0" u="none" strike="noStrike" dirty="0" err="1">
                <a:effectLst/>
                <a:latin typeface="+mn-lt"/>
              </a:rPr>
              <a:t>ήγ</a:t>
            </a:r>
            <a:r>
              <a:rPr lang="en-US" sz="1800" b="0" u="none" strike="noStrike" dirty="0">
                <a:effectLst/>
                <a:latin typeface="+mn-lt"/>
              </a:rPr>
              <a:t>αινε </a:t>
            </a:r>
            <a:r>
              <a:rPr lang="en-US" sz="1800" b="1" u="none" strike="noStrike" dirty="0">
                <a:effectLst/>
                <a:latin typeface="+mn-lt"/>
              </a:rPr>
              <a:t>Edit</a:t>
            </a:r>
            <a:r>
              <a:rPr lang="en-US" sz="1800" b="0" u="none" strike="noStrike" dirty="0">
                <a:effectLst/>
                <a:latin typeface="+mn-lt"/>
              </a:rPr>
              <a:t> -&gt; </a:t>
            </a:r>
            <a:r>
              <a:rPr lang="en-US" sz="1800" b="1" u="none" strike="noStrike" dirty="0">
                <a:effectLst/>
                <a:latin typeface="+mn-lt"/>
              </a:rPr>
              <a:t>Project Settings</a:t>
            </a:r>
            <a:r>
              <a:rPr lang="en-US" sz="1800" b="0" u="none" strike="noStrike" dirty="0">
                <a:effectLst/>
                <a:latin typeface="+mn-lt"/>
              </a:rPr>
              <a:t>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1800" b="0" u="none" strike="noStrike" dirty="0" err="1">
                <a:effectLst/>
                <a:latin typeface="+mn-lt"/>
              </a:rPr>
              <a:t>Στο</a:t>
            </a:r>
            <a:r>
              <a:rPr lang="en-US" sz="1800" b="0" u="none" strike="noStrike" dirty="0">
                <a:effectLst/>
                <a:latin typeface="+mn-lt"/>
              </a:rPr>
              <a:t> πα</a:t>
            </a:r>
            <a:r>
              <a:rPr lang="en-US" sz="1800" b="0" u="none" strike="noStrike" dirty="0" err="1">
                <a:effectLst/>
                <a:latin typeface="+mn-lt"/>
              </a:rPr>
              <a:t>ράθυρο</a:t>
            </a:r>
            <a:r>
              <a:rPr lang="en-US" sz="1800" b="0" u="none" strike="noStrike" dirty="0">
                <a:effectLst/>
                <a:latin typeface="+mn-lt"/>
              </a:rPr>
              <a:t> π</a:t>
            </a:r>
            <a:r>
              <a:rPr lang="en-US" sz="1800" b="0" u="none" strike="noStrike" dirty="0" err="1">
                <a:effectLst/>
                <a:latin typeface="+mn-lt"/>
              </a:rPr>
              <a:t>ου</a:t>
            </a:r>
            <a:r>
              <a:rPr lang="en-US" sz="1800" b="0" u="none" strike="noStrike" dirty="0">
                <a:effectLst/>
                <a:latin typeface="+mn-lt"/>
              </a:rPr>
              <a:t> θα α</a:t>
            </a:r>
            <a:r>
              <a:rPr lang="en-US" sz="1800" b="0" u="none" strike="noStrike" dirty="0" err="1">
                <a:effectLst/>
                <a:latin typeface="+mn-lt"/>
              </a:rPr>
              <a:t>νοίξει</a:t>
            </a:r>
            <a:r>
              <a:rPr lang="en-US" sz="1800" b="0" u="none" strike="noStrike" dirty="0">
                <a:effectLst/>
                <a:latin typeface="+mn-lt"/>
              </a:rPr>
              <a:t>, επ</a:t>
            </a:r>
            <a:r>
              <a:rPr lang="en-US" sz="1800" b="0" u="none" strike="noStrike" dirty="0" err="1">
                <a:effectLst/>
                <a:latin typeface="+mn-lt"/>
              </a:rPr>
              <a:t>ίλεξε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την</a:t>
            </a:r>
            <a:r>
              <a:rPr lang="en-US" sz="1800" b="0" u="none" strike="noStrike" dirty="0">
                <a:effectLst/>
                <a:latin typeface="+mn-lt"/>
              </a:rPr>
              <a:t> κα</a:t>
            </a:r>
            <a:r>
              <a:rPr lang="en-US" sz="1800" b="0" u="none" strike="noStrike" dirty="0" err="1">
                <a:effectLst/>
                <a:latin typeface="+mn-lt"/>
              </a:rPr>
              <a:t>ρτέλ</a:t>
            </a:r>
            <a:r>
              <a:rPr lang="en-US" sz="1800" b="0" u="none" strike="noStrike" dirty="0">
                <a:effectLst/>
                <a:latin typeface="+mn-lt"/>
              </a:rPr>
              <a:t>α </a:t>
            </a:r>
            <a:r>
              <a:rPr lang="en-US" sz="1800" b="1" u="none" strike="noStrike" dirty="0">
                <a:effectLst/>
                <a:latin typeface="+mn-lt"/>
              </a:rPr>
              <a:t>Player</a:t>
            </a:r>
            <a:r>
              <a:rPr lang="en-US" sz="1800" b="0" u="none" strike="noStrike" dirty="0">
                <a:effectLst/>
                <a:latin typeface="+mn-lt"/>
              </a:rPr>
              <a:t> (στα αριστερά).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1800" b="0" u="none" strike="noStrike" dirty="0" err="1">
                <a:effectLst/>
                <a:latin typeface="+mn-lt"/>
              </a:rPr>
              <a:t>Στο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δεξί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μέρος</a:t>
            </a:r>
            <a:r>
              <a:rPr lang="en-US" sz="1800" b="0" u="none" strike="noStrike" dirty="0">
                <a:effectLst/>
                <a:latin typeface="+mn-lt"/>
              </a:rPr>
              <a:t>, β</a:t>
            </a:r>
            <a:r>
              <a:rPr lang="en-US" sz="1800" b="0" u="none" strike="noStrike" dirty="0" err="1">
                <a:effectLst/>
                <a:latin typeface="+mn-lt"/>
              </a:rPr>
              <a:t>ρες</a:t>
            </a:r>
            <a:r>
              <a:rPr lang="en-US" sz="1800" b="0" u="none" strike="noStrike" dirty="0">
                <a:effectLst/>
                <a:latin typeface="+mn-lt"/>
              </a:rPr>
              <a:t> και </a:t>
            </a:r>
            <a:r>
              <a:rPr lang="en-US" sz="1800" b="0" u="none" strike="noStrike" dirty="0" err="1">
                <a:effectLst/>
                <a:latin typeface="+mn-lt"/>
              </a:rPr>
              <a:t>άνοιξε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την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ενότητ</a:t>
            </a:r>
            <a:r>
              <a:rPr lang="en-US" sz="1800" b="0" u="none" strike="noStrike" dirty="0">
                <a:effectLst/>
                <a:latin typeface="+mn-lt"/>
              </a:rPr>
              <a:t>α </a:t>
            </a:r>
            <a:r>
              <a:rPr lang="en-US" sz="1800" b="1" u="none" strike="noStrike" dirty="0">
                <a:effectLst/>
                <a:latin typeface="+mn-lt"/>
              </a:rPr>
              <a:t>Other Settings</a:t>
            </a:r>
            <a:r>
              <a:rPr lang="en-US" sz="1800" b="0" u="none" strike="noStrike" dirty="0">
                <a:effectLst/>
                <a:latin typeface="+mn-lt"/>
              </a:rPr>
              <a:t>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1800" b="0" u="none" strike="noStrike" dirty="0">
                <a:effectLst/>
                <a:latin typeface="+mn-lt"/>
              </a:rPr>
              <a:t>Κα</a:t>
            </a:r>
            <a:r>
              <a:rPr lang="en-US" sz="1800" b="0" u="none" strike="noStrike" dirty="0" err="1">
                <a:effectLst/>
                <a:latin typeface="+mn-lt"/>
              </a:rPr>
              <a:t>τέ</a:t>
            </a:r>
            <a:r>
              <a:rPr lang="en-US" sz="1800" b="0" u="none" strike="noStrike" dirty="0">
                <a:effectLst/>
                <a:latin typeface="+mn-lt"/>
              </a:rPr>
              <a:t>βα μέχρι να βρεις την επιλογή </a:t>
            </a:r>
            <a:r>
              <a:rPr lang="en-US" sz="1800" b="1" u="none" strike="noStrike" dirty="0">
                <a:effectLst/>
                <a:latin typeface="+mn-lt"/>
              </a:rPr>
              <a:t>Active Input Handling</a:t>
            </a:r>
            <a:r>
              <a:rPr lang="en-US" sz="1800" b="0" u="none" strike="noStrike" dirty="0">
                <a:effectLst/>
                <a:latin typeface="+mn-lt"/>
              </a:rPr>
              <a:t>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sz="1800" b="0" u="none" strike="noStrike" dirty="0" err="1">
                <a:effectLst/>
                <a:latin typeface="+mn-lt"/>
              </a:rPr>
              <a:t>Άλλ</a:t>
            </a:r>
            <a:r>
              <a:rPr lang="en-US" sz="1800" b="0" u="none" strike="noStrike" dirty="0">
                <a:effectLst/>
                <a:latin typeface="+mn-lt"/>
              </a:rPr>
              <a:t>αξέ το από </a:t>
            </a:r>
            <a:r>
              <a:rPr lang="en-US" sz="1800" b="0" i="1" u="none" strike="noStrike" dirty="0">
                <a:effectLst/>
                <a:latin typeface="+mn-lt"/>
              </a:rPr>
              <a:t>Input System Package (New)</a:t>
            </a:r>
            <a:r>
              <a:rPr lang="en-US" sz="1800" b="0" u="none" strike="noStrike" dirty="0">
                <a:effectLst/>
                <a:latin typeface="+mn-lt"/>
              </a:rPr>
              <a:t> σε </a:t>
            </a:r>
            <a:r>
              <a:rPr lang="en-US" sz="1800" b="1" u="none" strike="noStrike" dirty="0">
                <a:effectLst/>
                <a:latin typeface="+mn-lt"/>
              </a:rPr>
              <a:t>Both</a:t>
            </a:r>
            <a:r>
              <a:rPr lang="en-US" sz="1800" b="0" u="none" strike="noStrike" dirty="0">
                <a:effectLst/>
                <a:latin typeface="+mn-lt"/>
              </a:rPr>
              <a:t> (ή </a:t>
            </a:r>
            <a:r>
              <a:rPr lang="en-US" sz="1800" b="0" i="1" u="none" strike="noStrike" dirty="0">
                <a:effectLst/>
                <a:latin typeface="+mn-lt"/>
              </a:rPr>
              <a:t>Input Manager (Old)</a:t>
            </a:r>
            <a:r>
              <a:rPr lang="en-US" sz="1800" b="0" u="none" strike="noStrike" dirty="0">
                <a:effectLst/>
                <a:latin typeface="+mn-lt"/>
              </a:rPr>
              <a:t>).</a:t>
            </a:r>
          </a:p>
          <a:p>
            <a:pPr marL="342900" marR="0" lvl="0" indent="-342900">
              <a:spcBef>
                <a:spcPts val="9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1800" b="0" u="none" strike="noStrike" dirty="0">
                <a:effectLst/>
                <a:latin typeface="+mn-lt"/>
              </a:rPr>
              <a:t>Η Unity θα </a:t>
            </a:r>
            <a:r>
              <a:rPr lang="en-US" sz="1800" b="0" u="none" strike="noStrike" dirty="0" err="1">
                <a:effectLst/>
                <a:latin typeface="+mn-lt"/>
              </a:rPr>
              <a:t>σου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ζητήσει</a:t>
            </a:r>
            <a:r>
              <a:rPr lang="en-US" sz="1800" b="0" u="none" strike="noStrike" dirty="0">
                <a:effectLst/>
                <a:latin typeface="+mn-lt"/>
              </a:rPr>
              <a:t> να </a:t>
            </a:r>
            <a:r>
              <a:rPr lang="en-US" sz="1800" b="0" u="none" strike="noStrike" dirty="0" err="1">
                <a:effectLst/>
                <a:latin typeface="+mn-lt"/>
              </a:rPr>
              <a:t>κάνει</a:t>
            </a:r>
            <a:r>
              <a:rPr lang="en-US" sz="1800" b="0" u="none" strike="noStrike" dirty="0">
                <a:effectLst/>
                <a:latin typeface="+mn-lt"/>
              </a:rPr>
              <a:t> </a:t>
            </a:r>
            <a:r>
              <a:rPr lang="en-US" sz="1800" b="0" u="none" strike="noStrike" dirty="0" err="1">
                <a:effectLst/>
                <a:latin typeface="+mn-lt"/>
              </a:rPr>
              <a:t>έν</a:t>
            </a:r>
            <a:r>
              <a:rPr lang="en-US" sz="1800" b="0" u="none" strike="noStrike" dirty="0">
                <a:effectLst/>
                <a:latin typeface="+mn-lt"/>
              </a:rPr>
              <a:t>α γρήγορο </a:t>
            </a:r>
            <a:r>
              <a:rPr lang="en-US" sz="1800" b="1" u="none" strike="noStrike" dirty="0">
                <a:effectLst/>
                <a:latin typeface="+mn-lt"/>
              </a:rPr>
              <a:t>Restart</a:t>
            </a:r>
            <a:r>
              <a:rPr lang="en-US" sz="1800" b="0" u="none" strike="noStrike" dirty="0">
                <a:effectLst/>
                <a:latin typeface="+mn-lt"/>
              </a:rPr>
              <a:t> (επανεκκίνηση). </a:t>
            </a:r>
            <a:r>
              <a:rPr lang="en-US" sz="1800" b="0" u="none" strike="noStrike" dirty="0" err="1">
                <a:effectLst/>
                <a:latin typeface="+mn-lt"/>
              </a:rPr>
              <a:t>Πάτ</a:t>
            </a:r>
            <a:r>
              <a:rPr lang="en-US" sz="1800" b="0" u="none" strike="noStrike" dirty="0">
                <a:effectLst/>
                <a:latin typeface="+mn-lt"/>
              </a:rPr>
              <a:t>α </a:t>
            </a:r>
            <a:r>
              <a:rPr lang="en-US" sz="1800" b="0" i="1" u="none" strike="noStrike" dirty="0">
                <a:effectLst/>
                <a:latin typeface="+mn-lt"/>
              </a:rPr>
              <a:t>Apply/Yes</a:t>
            </a:r>
            <a:r>
              <a:rPr lang="en-US" sz="1800" b="0" u="none" strike="noStrike" dirty="0">
                <a:effectLst/>
                <a:latin typeface="+mn-lt"/>
              </a:rPr>
              <a:t>.</a:t>
            </a:r>
            <a:endParaRPr lang="en-US" sz="1200" b="0" u="none" strike="noStrike" dirty="0">
              <a:effectLst/>
              <a:latin typeface="Google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3D4EB9-A7DA-2157-5585-6D8F22838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412" y="1336145"/>
            <a:ext cx="6569009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95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2026</Words>
  <Application>Microsoft Office PowerPoint</Application>
  <PresentationFormat>Widescreen</PresentationFormat>
  <Paragraphs>236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Plus Jakarta Sans</vt:lpstr>
      <vt:lpstr>Calibri</vt:lpstr>
      <vt:lpstr>Consolas</vt:lpstr>
      <vt:lpstr>JetBrains Mono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Michail Vlachos</cp:lastModifiedBy>
  <cp:revision>28</cp:revision>
  <dcterms:created xsi:type="dcterms:W3CDTF">2013-01-27T09:14:16Z</dcterms:created>
  <dcterms:modified xsi:type="dcterms:W3CDTF">2026-10-28T13:06:29Z</dcterms:modified>
  <cp:category/>
</cp:coreProperties>
</file>